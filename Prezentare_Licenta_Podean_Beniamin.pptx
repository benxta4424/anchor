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731520"/>
            <a:ext cx="10362895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2800"/>
              </a:spcAft>
              <a:defRPr sz="1400" b="1">
                <a:solidFill>
                  <a:srgbClr val="787878"/>
                </a:solidFill>
                <a:latin typeface="Arial"/>
              </a:defRPr>
            </a:pPr>
            <a:r>
              <a:t>UNIVERSITATEA POLITEHNICA TIMIȘOARA</a:t>
            </a:r>
          </a:p>
          <a:p>
            <a:pPr algn="ctr">
              <a:spcAft>
                <a:spcPts val="1000"/>
              </a:spcAft>
              <a:defRPr sz="2800" b="1">
                <a:solidFill>
                  <a:srgbClr val="0F2043"/>
                </a:solidFill>
                <a:latin typeface="Arial"/>
              </a:defRPr>
            </a:pPr>
            <a:r>
              <a:t>SISTEM MULTIMODAL PENTRU MONITORIZAREA ȘI ANALIZA RISCULUI DE DEPRESIE</a:t>
            </a:r>
          </a:p>
          <a:p>
            <a:pPr algn="ctr">
              <a:defRPr sz="1500">
                <a:solidFill>
                  <a:srgbClr val="334155"/>
                </a:solidFill>
                <a:latin typeface="Calibri"/>
              </a:defRPr>
            </a:pPr>
            <a:r>
              <a:t>Identificarea, clasificarea și corelarea stărilor afective prin analiză semantică, biometrică facială și procesare acustică vocală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371600" y="4572000"/>
            <a:ext cx="4114800" cy="1645920"/>
          </a:xfrm>
          <a:prstGeom prst="rect">
            <a:avLst/>
          </a:prstGeom>
          <a:noFill/>
        </p:spPr>
        <p:txBody>
          <a:bodyPr wrap="square" tIns="0" lIns="0">
            <a:spAutoFit/>
          </a:bodyPr>
          <a:lstStyle/>
          <a:p>
            <a:pPr>
              <a:defRPr sz="1200">
                <a:solidFill>
                  <a:srgbClr val="787878"/>
                </a:solidFill>
                <a:latin typeface="Calibri"/>
              </a:defRPr>
            </a:pPr>
            <a:r>
              <a:t>Absolvent:</a:t>
            </a:r>
          </a:p>
          <a:p>
            <a:pPr>
              <a:defRPr sz="1600" b="1">
                <a:solidFill>
                  <a:srgbClr val="1E293B"/>
                </a:solidFill>
                <a:latin typeface="Calibri"/>
              </a:defRPr>
            </a:pPr>
            <a:r>
              <a:t>Podean Beniamin-Daniel</a:t>
            </a:r>
          </a:p>
          <a:p>
            <a:pPr>
              <a:defRPr sz="1200">
                <a:solidFill>
                  <a:srgbClr val="787878"/>
                </a:solidFill>
                <a:latin typeface="Calibri"/>
              </a:defRPr>
            </a:pPr>
            <a:r>
              <a:t>Specializarea: AIA / Ingineria Sistemelor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705295" y="4572000"/>
            <a:ext cx="4114800" cy="1645920"/>
          </a:xfrm>
          <a:prstGeom prst="rect">
            <a:avLst/>
          </a:prstGeom>
          <a:noFill/>
        </p:spPr>
        <p:txBody>
          <a:bodyPr wrap="square" tIns="0" lIns="0">
            <a:spAutoFit/>
          </a:bodyPr>
          <a:lstStyle/>
          <a:p>
            <a:pPr>
              <a:defRPr sz="1200">
                <a:solidFill>
                  <a:srgbClr val="787878"/>
                </a:solidFill>
                <a:latin typeface="Calibri"/>
              </a:defRPr>
            </a:pPr>
            <a:r>
              <a:t>Coordonator Științific:</a:t>
            </a:r>
          </a:p>
          <a:p>
            <a:pPr>
              <a:defRPr sz="1600" b="1">
                <a:solidFill>
                  <a:srgbClr val="1E293B"/>
                </a:solidFill>
                <a:latin typeface="Calibri"/>
              </a:defRPr>
            </a:pPr>
            <a:r>
              <a:t>Ș.l. dr. ing. [Nume Coordonator]</a:t>
            </a:r>
          </a:p>
          <a:p>
            <a:pPr>
              <a:defRPr sz="1200">
                <a:solidFill>
                  <a:srgbClr val="787878"/>
                </a:solidFill>
                <a:latin typeface="Calibri"/>
              </a:defRPr>
            </a:pPr>
            <a:r>
              <a:t>Facultatea de Automatică și Calculatoare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365760"/>
            <a:ext cx="10817352" cy="731520"/>
          </a:xfrm>
          <a:prstGeom prst="rect">
            <a:avLst/>
          </a:prstGeom>
          <a:noFill/>
        </p:spPr>
        <p:txBody>
          <a:bodyPr wrap="square" tIns="0" lIns="0">
            <a:spAutoFit/>
          </a:bodyPr>
          <a:lstStyle/>
          <a:p>
            <a:pPr>
              <a:defRPr sz="2200" b="1">
                <a:solidFill>
                  <a:srgbClr val="0F2043"/>
                </a:solidFill>
                <a:latin typeface="Arial"/>
              </a:defRPr>
            </a:pPr>
            <a:r>
              <a:t>Introducere și Context Clinic (DSM-5)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1097280"/>
            <a:ext cx="10817352" cy="5303520"/>
          </a:xfrm>
          <a:prstGeom prst="rect">
            <a:avLst/>
          </a:prstGeom>
          <a:noFill/>
        </p:spPr>
        <p:txBody>
          <a:bodyPr wrap="square" tIns="0" lIns="0">
            <a:spAutoFit/>
          </a:bodyPr>
          <a:lstStyle/>
          <a:p>
            <a:pPr>
              <a:spcAft>
                <a:spcPts val="800"/>
              </a:spcAft>
            </a:pPr>
            <a:r>
              <a:rPr b="1" sz="1500">
                <a:solidFill>
                  <a:srgbClr val="1E293B"/>
                </a:solidFill>
                <a:latin typeface="Calibri"/>
              </a:rPr>
              <a:t>Importanța Diagnosticării Timpurii: </a:t>
            </a:r>
            <a:r>
              <a:rPr sz="1400">
                <a:solidFill>
                  <a:srgbClr val="1E293B"/>
                </a:solidFill>
                <a:latin typeface="Calibri"/>
              </a:rPr>
              <a:t>Depresia cronică, anxietatea și ideația suicidală reprezintă provocări clinice majore cu prevalență în creștere, dar adesea sub-raportate din cauza stigmatizării sociale.</a:t>
            </a:r>
          </a:p>
          <a:p>
            <a:pPr>
              <a:spcAft>
                <a:spcPts val="800"/>
              </a:spcAft>
            </a:pPr>
            <a:r>
              <a:rPr b="1" sz="1500">
                <a:solidFill>
                  <a:srgbClr val="1E293B"/>
                </a:solidFill>
                <a:latin typeface="Calibri"/>
              </a:rPr>
              <a:t>Limitările Evaluărilor Tradiționale (Unimodale): </a:t>
            </a:r>
            <a:r>
              <a:rPr sz="1400">
                <a:solidFill>
                  <a:srgbClr val="1E293B"/>
                </a:solidFill>
                <a:latin typeface="Calibri"/>
              </a:rPr>
              <a:t>Chestionarele clasice și interviurile clinice periodice depind de starea de moment a pacientului și pot fi ușor disimulate prin mascare psihică intenționată.</a:t>
            </a:r>
          </a:p>
          <a:p>
            <a:pPr>
              <a:spcAft>
                <a:spcPts val="800"/>
              </a:spcAft>
            </a:pPr>
            <a:r>
              <a:rPr b="1" sz="1500">
                <a:solidFill>
                  <a:srgbClr val="1E293B"/>
                </a:solidFill>
                <a:latin typeface="Calibri"/>
              </a:rPr>
              <a:t>De ce Multimodalitate (Canale Independente): </a:t>
            </a:r>
            <a:r>
              <a:rPr sz="1400">
                <a:solidFill>
                  <a:srgbClr val="1E293B"/>
                </a:solidFill>
                <a:latin typeface="Calibri"/>
              </a:rPr>
              <a:t>Agregarea semnalelor reduce masiv erorile clinice și asigură o evaluare obiectivă:</a:t>
            </a:r>
          </a:p>
          <a:p>
            <a:pPr lvl="1">
              <a:spcAft>
                <a:spcPts val="400"/>
              </a:spcAft>
            </a:pPr>
            <a:r>
              <a:rPr b="1" sz="1300">
                <a:solidFill>
                  <a:srgbClr val="334155"/>
                </a:solidFill>
                <a:latin typeface="Calibri"/>
              </a:rPr>
              <a:t>Semantica textului (limbajul): </a:t>
            </a:r>
            <a:r>
              <a:rPr sz="1300">
                <a:solidFill>
                  <a:srgbClr val="334155"/>
                </a:solidFill>
                <a:latin typeface="Calibri"/>
              </a:rPr>
              <a:t>Tiparele de gândire, sentimentele exprimate verbal și indicii textuali subtili.</a:t>
            </a:r>
          </a:p>
          <a:p>
            <a:pPr lvl="1">
              <a:spcAft>
                <a:spcPts val="400"/>
              </a:spcAft>
            </a:pPr>
            <a:r>
              <a:rPr b="1" sz="1300">
                <a:solidFill>
                  <a:srgbClr val="334155"/>
                </a:solidFill>
                <a:latin typeface="Calibri"/>
              </a:rPr>
              <a:t>Biometria facială (fața): </a:t>
            </a:r>
            <a:r>
              <a:rPr sz="1300">
                <a:solidFill>
                  <a:srgbClr val="334155"/>
                </a:solidFill>
                <a:latin typeface="Calibri"/>
              </a:rPr>
              <a:t>Aplatizarea afectivă (flat affect) și indicatorii biometrici de anhedonie prin repere faciale.</a:t>
            </a:r>
          </a:p>
          <a:p>
            <a:pPr lvl="1">
              <a:spcAft>
                <a:spcPts val="400"/>
              </a:spcAft>
            </a:pPr>
            <a:r>
              <a:rPr b="1" sz="1300">
                <a:solidFill>
                  <a:srgbClr val="334155"/>
                </a:solidFill>
                <a:latin typeface="Calibri"/>
              </a:rPr>
              <a:t>Prosodia vocală (vocea): </a:t>
            </a:r>
            <a:r>
              <a:rPr sz="1300">
                <a:solidFill>
                  <a:srgbClr val="334155"/>
                </a:solidFill>
                <a:latin typeface="Calibri"/>
              </a:rPr>
              <a:t>Ritmul discursului, oboseala acustică și variația spectrală paralingvistică (cum se vorbește).</a:t>
            </a:r>
          </a:p>
          <a:p>
            <a:pPr>
              <a:spcAft>
                <a:spcPts val="800"/>
              </a:spcAft>
            </a:pPr>
            <a:r>
              <a:rPr b="1" sz="1500">
                <a:solidFill>
                  <a:srgbClr val="1E293B"/>
                </a:solidFill>
                <a:latin typeface="Calibri"/>
              </a:rPr>
              <a:t>Obiectivul Platformei Anchor: </a:t>
            </a:r>
            <a:r>
              <a:rPr sz="1400">
                <a:solidFill>
                  <a:srgbClr val="1E293B"/>
                </a:solidFill>
                <a:latin typeface="Calibri"/>
              </a:rPr>
              <a:t>Dezvoltarea unei soluții software localizate, ce rulează asistență clinică securizată (privacy-first) pentru identificarea timpurie a stărilor de risc.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365760"/>
            <a:ext cx="10817352" cy="731520"/>
          </a:xfrm>
          <a:prstGeom prst="rect">
            <a:avLst/>
          </a:prstGeom>
          <a:noFill/>
        </p:spPr>
        <p:txBody>
          <a:bodyPr wrap="square" tIns="0" lIns="0">
            <a:spAutoFit/>
          </a:bodyPr>
          <a:lstStyle/>
          <a:p>
            <a:pPr>
              <a:defRPr sz="2200" b="1">
                <a:solidFill>
                  <a:srgbClr val="0F2043"/>
                </a:solidFill>
                <a:latin typeface="Arial"/>
              </a:defRPr>
            </a:pPr>
            <a:r>
              <a:t>Arhitectura Generală a Sistemului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1097280"/>
            <a:ext cx="10817352" cy="5303520"/>
          </a:xfrm>
          <a:prstGeom prst="rect">
            <a:avLst/>
          </a:prstGeom>
          <a:noFill/>
        </p:spPr>
        <p:txBody>
          <a:bodyPr wrap="square" tIns="0" lIns="0">
            <a:spAutoFit/>
          </a:bodyPr>
          <a:lstStyle/>
          <a:p>
            <a:pPr>
              <a:spcAft>
                <a:spcPts val="800"/>
              </a:spcAft>
            </a:pPr>
            <a:r>
              <a:rPr b="1" sz="1500">
                <a:solidFill>
                  <a:srgbClr val="1E293B"/>
                </a:solidFill>
                <a:latin typeface="Calibri"/>
              </a:rPr>
              <a:t>Model Arhitectural: </a:t>
            </a:r>
            <a:r>
              <a:rPr sz="1400">
                <a:solidFill>
                  <a:srgbClr val="1E293B"/>
                </a:solidFill>
                <a:latin typeface="Calibri"/>
              </a:rPr>
              <a:t>Client-Server hibrid (Client-heavy pentru performanță biometrică real-time în browser; Server-orchestrated pentru stocare și securizare).</a:t>
            </a:r>
          </a:p>
          <a:p>
            <a:pPr>
              <a:spcAft>
                <a:spcPts val="800"/>
              </a:spcAft>
            </a:pPr>
            <a:r>
              <a:rPr b="1" sz="1500">
                <a:solidFill>
                  <a:srgbClr val="1E293B"/>
                </a:solidFill>
                <a:latin typeface="Calibri"/>
              </a:rPr>
              <a:t>Componente Frontend (React 19, Vite, Vanilla CSS): </a:t>
            </a:r>
            <a:r>
              <a:rPr sz="1400">
                <a:solidFill>
                  <a:srgbClr val="1E293B"/>
                </a:solidFill>
                <a:latin typeface="Calibri"/>
              </a:rPr>
              <a:t>Asigură interfața grafică modernă și captarea directă a fluxurilor senzoriale:</a:t>
            </a:r>
          </a:p>
          <a:p>
            <a:pPr lvl="1">
              <a:spcAft>
                <a:spcPts val="400"/>
              </a:spcAft>
            </a:pPr>
            <a:r>
              <a:rPr b="1" sz="1300">
                <a:solidFill>
                  <a:srgbClr val="334155"/>
                </a:solidFill>
                <a:latin typeface="Calibri"/>
              </a:rPr>
              <a:t>Captare media locală: </a:t>
            </a:r>
            <a:r>
              <a:rPr sz="1300">
                <a:solidFill>
                  <a:srgbClr val="334155"/>
                </a:solidFill>
                <a:latin typeface="Calibri"/>
              </a:rPr>
              <a:t>Streaming video în timp real (Webcam) și achiziție audio PCM necomprimată din microfon.</a:t>
            </a:r>
          </a:p>
          <a:p>
            <a:pPr lvl="1">
              <a:spcAft>
                <a:spcPts val="400"/>
              </a:spcAft>
            </a:pPr>
            <a:r>
              <a:rPr b="1" sz="1300">
                <a:solidFill>
                  <a:srgbClr val="334155"/>
                </a:solidFill>
                <a:latin typeface="Calibri"/>
              </a:rPr>
              <a:t>Procesare locală: </a:t>
            </a:r>
            <a:r>
              <a:rPr sz="1300">
                <a:solidFill>
                  <a:srgbClr val="334155"/>
                </a:solidFill>
                <a:latin typeface="Calibri"/>
              </a:rPr>
              <a:t>TensorFlow.js și Face-API.js pentru detecție biometrică rapidă locală în browser, reducând sarcina de pe server.</a:t>
            </a:r>
          </a:p>
          <a:p>
            <a:pPr lvl="1">
              <a:spcAft>
                <a:spcPts val="400"/>
              </a:spcAft>
            </a:pPr>
            <a:r>
              <a:rPr b="1" sz="1300">
                <a:solidFill>
                  <a:srgbClr val="334155"/>
                </a:solidFill>
                <a:latin typeface="Calibri"/>
              </a:rPr>
              <a:t>Vizualizare: </a:t>
            </a:r>
            <a:r>
              <a:rPr sz="1300">
                <a:solidFill>
                  <a:srgbClr val="334155"/>
                </a:solidFill>
                <a:latin typeface="Calibri"/>
              </a:rPr>
              <a:t>Panouri de control integrative (dashboard-uri) și grafice temporale evolutive cu Chart.js.</a:t>
            </a:r>
          </a:p>
          <a:p>
            <a:pPr>
              <a:spcAft>
                <a:spcPts val="800"/>
              </a:spcAft>
            </a:pPr>
            <a:r>
              <a:rPr b="1" sz="1500">
                <a:solidFill>
                  <a:srgbClr val="1E293B"/>
                </a:solidFill>
                <a:latin typeface="Calibri"/>
              </a:rPr>
              <a:t>Componente Backend (Flask, Python 3): </a:t>
            </a:r>
            <a:r>
              <a:rPr sz="1400">
                <a:solidFill>
                  <a:srgbClr val="1E293B"/>
                </a:solidFill>
                <a:latin typeface="Calibri"/>
              </a:rPr>
              <a:t>API Gateway ce expune servicii REST, gestionează securitatea CORS și prelucrează datele:</a:t>
            </a:r>
          </a:p>
          <a:p>
            <a:pPr lvl="1">
              <a:spcAft>
                <a:spcPts val="400"/>
              </a:spcAft>
            </a:pPr>
            <a:r>
              <a:rPr b="1" sz="1300">
                <a:solidFill>
                  <a:srgbClr val="334155"/>
                </a:solidFill>
                <a:latin typeface="Calibri"/>
              </a:rPr>
              <a:t>Motor DSP local: </a:t>
            </a:r>
            <a:r>
              <a:rPr sz="1300">
                <a:solidFill>
                  <a:srgbClr val="334155"/>
                </a:solidFill>
                <a:latin typeface="Calibri"/>
              </a:rPr>
              <a:t>Prelucrare de semnal digital audio folosind Librosa și fallback robust NumPy.</a:t>
            </a:r>
          </a:p>
          <a:p>
            <a:pPr lvl="1">
              <a:spcAft>
                <a:spcPts val="400"/>
              </a:spcAft>
            </a:pPr>
            <a:r>
              <a:rPr b="1" sz="1300">
                <a:solidFill>
                  <a:srgbClr val="334155"/>
                </a:solidFill>
                <a:latin typeface="Calibri"/>
              </a:rPr>
              <a:t>Orchestrator AI: </a:t>
            </a:r>
            <a:r>
              <a:rPr sz="1300">
                <a:solidFill>
                  <a:srgbClr val="334155"/>
                </a:solidFill>
                <a:latin typeface="Calibri"/>
              </a:rPr>
              <a:t>Coordonarea apelurilor API de mare viteză prin Groq LPU (Llama 3.3 și Whisper-large-v3).</a:t>
            </a:r>
          </a:p>
          <a:p>
            <a:pPr>
              <a:spcAft>
                <a:spcPts val="800"/>
              </a:spcAft>
            </a:pPr>
            <a:r>
              <a:rPr b="1" sz="1500">
                <a:solidFill>
                  <a:srgbClr val="1E293B"/>
                </a:solidFill>
                <a:latin typeface="Calibri"/>
              </a:rPr>
              <a:t>Stocare locală securizată: </a:t>
            </a:r>
            <a:r>
              <a:rPr sz="1400">
                <a:solidFill>
                  <a:srgbClr val="1E293B"/>
                </a:solidFill>
                <a:latin typeface="Calibri"/>
              </a:rPr>
              <a:t>Bază de date locală SQLite (mindscan_history.db) pentru conservarea istoricului de analize.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365760"/>
            <a:ext cx="10817352" cy="731520"/>
          </a:xfrm>
          <a:prstGeom prst="rect">
            <a:avLst/>
          </a:prstGeom>
          <a:noFill/>
        </p:spPr>
        <p:txBody>
          <a:bodyPr wrap="square" tIns="0" lIns="0">
            <a:spAutoFit/>
          </a:bodyPr>
          <a:lstStyle/>
          <a:p>
            <a:pPr>
              <a:defRPr sz="2200" b="1">
                <a:solidFill>
                  <a:srgbClr val="0F2043"/>
                </a:solidFill>
                <a:latin typeface="Arial"/>
              </a:defRPr>
            </a:pPr>
            <a:r>
              <a:t>Rute API și Comunicare CORS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1097280"/>
            <a:ext cx="10817352" cy="5303520"/>
          </a:xfrm>
          <a:prstGeom prst="rect">
            <a:avLst/>
          </a:prstGeom>
          <a:noFill/>
        </p:spPr>
        <p:txBody>
          <a:bodyPr wrap="square" tIns="0" lIns="0">
            <a:spAutoFit/>
          </a:bodyPr>
          <a:lstStyle/>
          <a:p>
            <a:pPr>
              <a:spcAft>
                <a:spcPts val="800"/>
              </a:spcAft>
            </a:pPr>
            <a:r>
              <a:rPr b="1" sz="1500">
                <a:solidFill>
                  <a:srgbClr val="1E293B"/>
                </a:solidFill>
                <a:latin typeface="Calibri"/>
              </a:rPr>
              <a:t>Separarea Porturilor: </a:t>
            </a:r>
            <a:r>
              <a:rPr sz="1400">
                <a:solidFill>
                  <a:srgbClr val="1E293B"/>
                </a:solidFill>
                <a:latin typeface="Calibri"/>
              </a:rPr>
              <a:t>Frontend-ul (React 19) rulează pe portul 5173, iar Backend-ul (Flask) pe portul 5000. Schimbul de date este asigurat prin CORS (Cross-Origin Resource Sharing).</a:t>
            </a:r>
          </a:p>
          <a:p>
            <a:pPr>
              <a:spcAft>
                <a:spcPts val="800"/>
              </a:spcAft>
            </a:pPr>
            <a:r>
              <a:rPr b="1" sz="1500">
                <a:solidFill>
                  <a:srgbClr val="1E293B"/>
                </a:solidFill>
                <a:latin typeface="Calibri"/>
              </a:rPr>
              <a:t>Rute HTTP POST Principale (Flask API în app.py): </a:t>
            </a:r>
            <a:r>
              <a:rPr sz="1400">
                <a:solidFill>
                  <a:srgbClr val="1E293B"/>
                </a:solidFill>
                <a:latin typeface="Calibri"/>
              </a:rPr>
              <a:t>Cele patru endpoint-uri de analiză folosite de client:</a:t>
            </a:r>
          </a:p>
          <a:p>
            <a:pPr lvl="1">
              <a:spcAft>
                <a:spcPts val="400"/>
              </a:spcAft>
            </a:pPr>
            <a:r>
              <a:rPr b="1" sz="1300">
                <a:solidFill>
                  <a:srgbClr val="334155"/>
                </a:solidFill>
                <a:latin typeface="Calibri"/>
              </a:rPr>
              <a:t>POST /analyze-text: </a:t>
            </a:r>
            <a:r>
              <a:rPr sz="1300">
                <a:solidFill>
                  <a:srgbClr val="334155"/>
                </a:solidFill>
                <a:latin typeface="Calibri"/>
              </a:rPr>
              <a:t>Trimite mesajul text introdus de utilizator pentru verificare semantică. Returnează diagnosticul clinic și feedback-ul empatic.</a:t>
            </a:r>
          </a:p>
          <a:p>
            <a:pPr lvl="1">
              <a:spcAft>
                <a:spcPts val="400"/>
              </a:spcAft>
            </a:pPr>
            <a:r>
              <a:rPr b="1" sz="1300">
                <a:solidFill>
                  <a:srgbClr val="334155"/>
                </a:solidFill>
                <a:latin typeface="Calibri"/>
              </a:rPr>
              <a:t>POST /analyze-face: </a:t>
            </a:r>
            <a:r>
              <a:rPr sz="1300">
                <a:solidFill>
                  <a:srgbClr val="334155"/>
                </a:solidFill>
                <a:latin typeface="Calibri"/>
              </a:rPr>
              <a:t>Trimite imaginea de selfie (Base64 JPEG) capturată din webcam și coordonatele locale. Returnează expresiile calibrate și observațiile Groq Vision.</a:t>
            </a:r>
          </a:p>
          <a:p>
            <a:pPr lvl="1">
              <a:spcAft>
                <a:spcPts val="400"/>
              </a:spcAft>
            </a:pPr>
            <a:r>
              <a:rPr b="1" sz="1300">
                <a:solidFill>
                  <a:srgbClr val="334155"/>
                </a:solidFill>
                <a:latin typeface="Calibri"/>
              </a:rPr>
              <a:t>POST /analyze-voice: </a:t>
            </a:r>
            <a:r>
              <a:rPr sz="1300">
                <a:solidFill>
                  <a:srgbClr val="334155"/>
                </a:solidFill>
                <a:latin typeface="Calibri"/>
              </a:rPr>
              <a:t>Trimite înregistrarea audio (Base64 WAV). Returnează transcrierea text, trăsăturile acustice (Tempo, ZCR) și scorul vocal agregat.</a:t>
            </a:r>
          </a:p>
          <a:p>
            <a:pPr lvl="1">
              <a:spcAft>
                <a:spcPts val="400"/>
              </a:spcAft>
            </a:pPr>
            <a:r>
              <a:rPr b="1" sz="1300">
                <a:solidFill>
                  <a:srgbClr val="334155"/>
                </a:solidFill>
                <a:latin typeface="Calibri"/>
              </a:rPr>
              <a:t>POST /analyze-multimodal: </a:t>
            </a:r>
            <a:r>
              <a:rPr sz="1300">
                <a:solidFill>
                  <a:srgbClr val="334155"/>
                </a:solidFill>
                <a:latin typeface="Calibri"/>
              </a:rPr>
              <a:t>Corelează evaluările text, voce și față pentru a genera scorul final integrat.</a:t>
            </a:r>
          </a:p>
          <a:p>
            <a:pPr>
              <a:spcAft>
                <a:spcPts val="800"/>
              </a:spcAft>
            </a:pPr>
            <a:r>
              <a:rPr b="1" sz="1500">
                <a:solidFill>
                  <a:srgbClr val="1E293B"/>
                </a:solidFill>
                <a:latin typeface="Calibri"/>
              </a:rPr>
              <a:t>Securizarea Datelor în Tranzit: </a:t>
            </a:r>
            <a:r>
              <a:rPr sz="1400">
                <a:solidFill>
                  <a:srgbClr val="1E293B"/>
                </a:solidFill>
                <a:latin typeface="Calibri"/>
              </a:rPr>
              <a:t>Transferul fluxurilor de date mari (imagini și fișiere audio) se realizează securizat sub formă de șiruri de caractere codificate Base64 în corpul JSON-ului HTTP POST, fiind decodificate în bytes direct în RAM-ul serverului Flask.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365760"/>
            <a:ext cx="10817352" cy="731520"/>
          </a:xfrm>
          <a:prstGeom prst="rect">
            <a:avLst/>
          </a:prstGeom>
          <a:noFill/>
        </p:spPr>
        <p:txBody>
          <a:bodyPr wrap="square" tIns="0" lIns="0">
            <a:spAutoFit/>
          </a:bodyPr>
          <a:lstStyle/>
          <a:p>
            <a:pPr>
              <a:defRPr sz="2200" b="1">
                <a:solidFill>
                  <a:srgbClr val="0F2043"/>
                </a:solidFill>
                <a:latin typeface="Arial"/>
              </a:defRPr>
            </a:pPr>
            <a:r>
              <a:t>Modulul de Analiză Text (Semantică &amp; LLM)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1097280"/>
            <a:ext cx="10817352" cy="5303520"/>
          </a:xfrm>
          <a:prstGeom prst="rect">
            <a:avLst/>
          </a:prstGeom>
          <a:noFill/>
        </p:spPr>
        <p:txBody>
          <a:bodyPr wrap="square" tIns="0" lIns="0">
            <a:spAutoFit/>
          </a:bodyPr>
          <a:lstStyle/>
          <a:p>
            <a:pPr>
              <a:spcAft>
                <a:spcPts val="800"/>
              </a:spcAft>
            </a:pPr>
            <a:r>
              <a:rPr b="1" sz="1500">
                <a:solidFill>
                  <a:srgbClr val="1E293B"/>
                </a:solidFill>
                <a:latin typeface="Calibri"/>
              </a:rPr>
              <a:t>Preprocesare și Extragere Context Local: </a:t>
            </a:r>
            <a:r>
              <a:rPr sz="1400">
                <a:solidFill>
                  <a:srgbClr val="1E293B"/>
                </a:solidFill>
                <a:latin typeface="Calibri"/>
              </a:rPr>
              <a:t>Filtrare locală a textului din frontend înainte de trimiterea la server pentru identificarea anomaliilor structurale.</a:t>
            </a:r>
          </a:p>
          <a:p>
            <a:pPr lvl="1">
              <a:spcAft>
                <a:spcPts val="400"/>
              </a:spcAft>
            </a:pPr>
            <a:r>
              <a:rPr b="1" sz="1300">
                <a:solidFill>
                  <a:srgbClr val="334155"/>
                </a:solidFill>
                <a:latin typeface="Calibri"/>
              </a:rPr>
              <a:t>Euristici locale: </a:t>
            </a:r>
            <a:r>
              <a:rPr sz="1300">
                <a:solidFill>
                  <a:srgbClr val="334155"/>
                </a:solidFill>
                <a:latin typeface="Calibri"/>
              </a:rPr>
              <a:t>Analiza lexicală automată pentru sarcasm, majuscule excesive (indicator de stres) și disonanță cognitivă.</a:t>
            </a:r>
          </a:p>
          <a:p>
            <a:pPr lvl="1">
              <a:spcAft>
                <a:spcPts val="400"/>
              </a:spcAft>
            </a:pPr>
            <a:r>
              <a:rPr b="1" sz="1300">
                <a:solidFill>
                  <a:srgbClr val="334155"/>
                </a:solidFill>
                <a:latin typeface="Calibri"/>
              </a:rPr>
              <a:t>Context temporal: </a:t>
            </a:r>
            <a:r>
              <a:rPr sz="1300">
                <a:solidFill>
                  <a:srgbClr val="334155"/>
                </a:solidFill>
                <a:latin typeface="Calibri"/>
              </a:rPr>
              <a:t>Extragerea automată a istoricului recent (ultimele 3 mesaje) și extins (ultimele 10 intrări) din SQLite.</a:t>
            </a:r>
          </a:p>
          <a:p>
            <a:pPr>
              <a:spcAft>
                <a:spcPts val="800"/>
              </a:spcAft>
            </a:pPr>
            <a:r>
              <a:rPr b="1" sz="1500">
                <a:solidFill>
                  <a:srgbClr val="1E293B"/>
                </a:solidFill>
                <a:latin typeface="Calibri"/>
              </a:rPr>
              <a:t>Analiză Semantică Avansată (Llama 3.3 70B Versatile): </a:t>
            </a:r>
            <a:r>
              <a:rPr sz="1400">
                <a:solidFill>
                  <a:srgbClr val="1E293B"/>
                </a:solidFill>
                <a:latin typeface="Calibri"/>
              </a:rPr>
              <a:t>Integrarea API-ului Groq LPU cu format de răspuns JSON garantat:</a:t>
            </a:r>
          </a:p>
          <a:p>
            <a:pPr lvl="1">
              <a:spcAft>
                <a:spcPts val="400"/>
              </a:spcAft>
            </a:pPr>
            <a:r>
              <a:rPr b="1" sz="1300">
                <a:solidFill>
                  <a:srgbClr val="334155"/>
                </a:solidFill>
                <a:latin typeface="Calibri"/>
              </a:rPr>
              <a:t>JSON Schema rigid: </a:t>
            </a:r>
            <a:r>
              <a:rPr sz="1300">
                <a:solidFill>
                  <a:srgbClr val="334155"/>
                </a:solidFill>
                <a:latin typeface="Calibri"/>
              </a:rPr>
              <a:t>Forțează modelul să returneze doar indicatori clinici binari (idee_adio, plan_iminent, depresie_cronica, mascare) și raționament clinic, prevenind halucinațiile textuale.</a:t>
            </a:r>
          </a:p>
          <a:p>
            <a:pPr>
              <a:spcAft>
                <a:spcPts val="800"/>
              </a:spcAft>
            </a:pPr>
            <a:r>
              <a:rPr b="1" sz="1500">
                <a:solidFill>
                  <a:srgbClr val="1E293B"/>
                </a:solidFill>
                <a:latin typeface="Calibri"/>
              </a:rPr>
              <a:t>Modelul de Scoring Clinic: </a:t>
            </a:r>
            <a:r>
              <a:rPr sz="1400">
                <a:solidFill>
                  <a:srgbClr val="1E293B"/>
                </a:solidFill>
                <a:latin typeface="Calibri"/>
              </a:rPr>
              <a:t>Procesarea răspunsului JSON în serverul Flask:</a:t>
            </a:r>
          </a:p>
          <a:p>
            <a:pPr lvl="1">
              <a:spcAft>
                <a:spcPts val="400"/>
              </a:spcAft>
            </a:pPr>
            <a:r>
              <a:rPr b="1" sz="1300">
                <a:solidFill>
                  <a:srgbClr val="334155"/>
                </a:solidFill>
                <a:latin typeface="Calibri"/>
              </a:rPr>
              <a:t>Zone de risc: </a:t>
            </a:r>
            <a:r>
              <a:rPr sz="1300">
                <a:solidFill>
                  <a:srgbClr val="334155"/>
                </a:solidFill>
                <a:latin typeface="Calibri"/>
              </a:rPr>
              <a:t>Scăzut (0-30%), Mediu (30-70%), Critic (70-100%).</a:t>
            </a:r>
          </a:p>
          <a:p>
            <a:pPr lvl="1">
              <a:spcAft>
                <a:spcPts val="400"/>
              </a:spcAft>
            </a:pPr>
            <a:r>
              <a:rPr b="1" sz="1300">
                <a:solidFill>
                  <a:srgbClr val="334155"/>
                </a:solidFill>
                <a:latin typeface="Calibri"/>
              </a:rPr>
              <a:t>Plafonare și corecții: </a:t>
            </a:r>
            <a:r>
              <a:rPr sz="1300">
                <a:solidFill>
                  <a:srgbClr val="334155"/>
                </a:solidFill>
                <a:latin typeface="Calibri"/>
              </a:rPr>
              <a:t>Forțarea scorului în intervale specifice în funcție de markerii depistați (ex: minim 92% în caz de ideație sau arme).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365760"/>
            <a:ext cx="10817352" cy="731520"/>
          </a:xfrm>
          <a:prstGeom prst="rect">
            <a:avLst/>
          </a:prstGeom>
          <a:noFill/>
        </p:spPr>
        <p:txBody>
          <a:bodyPr wrap="square" tIns="0" lIns="0">
            <a:spAutoFit/>
          </a:bodyPr>
          <a:lstStyle/>
          <a:p>
            <a:pPr>
              <a:defRPr sz="2200" b="1">
                <a:solidFill>
                  <a:srgbClr val="0F2043"/>
                </a:solidFill>
                <a:latin typeface="Arial"/>
              </a:defRPr>
            </a:pPr>
            <a:r>
              <a:t>Analiza Facială I - Detecție Locală cu Face-API.js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1097280"/>
            <a:ext cx="10817352" cy="5303520"/>
          </a:xfrm>
          <a:prstGeom prst="rect">
            <a:avLst/>
          </a:prstGeom>
          <a:noFill/>
        </p:spPr>
        <p:txBody>
          <a:bodyPr wrap="square" tIns="0" lIns="0">
            <a:spAutoFit/>
          </a:bodyPr>
          <a:lstStyle/>
          <a:p>
            <a:pPr>
              <a:spcAft>
                <a:spcPts val="800"/>
              </a:spcAft>
            </a:pPr>
            <a:r>
              <a:rPr b="1" sz="1500">
                <a:solidFill>
                  <a:srgbClr val="1E293B"/>
                </a:solidFill>
                <a:latin typeface="Calibri"/>
              </a:rPr>
              <a:t>Conceptul Client-Side Processing: </a:t>
            </a:r>
            <a:r>
              <a:rPr sz="1400">
                <a:solidFill>
                  <a:srgbClr val="1E293B"/>
                </a:solidFill>
                <a:latin typeface="Calibri"/>
              </a:rPr>
              <a:t>Calculul biometriei direct pe mașina utilizatorului protejează confidențialitatea (imaginile video brute nu părăsesc browserul).</a:t>
            </a:r>
          </a:p>
          <a:p>
            <a:pPr>
              <a:spcAft>
                <a:spcPts val="800"/>
              </a:spcAft>
            </a:pPr>
            <a:r>
              <a:rPr b="1" sz="1500">
                <a:solidFill>
                  <a:srgbClr val="1E293B"/>
                </a:solidFill>
                <a:latin typeface="Calibri"/>
              </a:rPr>
              <a:t>Modele Rulate în Browser (TensorFlow.js): </a:t>
            </a:r>
            <a:r>
              <a:rPr sz="1400">
                <a:solidFill>
                  <a:srgbClr val="1E293B"/>
                </a:solidFill>
                <a:latin typeface="Calibri"/>
              </a:rPr>
              <a:t>Sistemul utilizează două module rețele neuronale convoluționale (CNN) pre-antrenate:</a:t>
            </a:r>
          </a:p>
          <a:p>
            <a:pPr lvl="1">
              <a:spcAft>
                <a:spcPts val="400"/>
              </a:spcAft>
            </a:pPr>
            <a:r>
              <a:rPr b="1" sz="1300">
                <a:solidFill>
                  <a:srgbClr val="334155"/>
                </a:solidFill>
                <a:latin typeface="Calibri"/>
              </a:rPr>
              <a:t>Tiny Face Detector: </a:t>
            </a:r>
            <a:r>
              <a:rPr sz="1300">
                <a:solidFill>
                  <a:srgbClr val="334155"/>
                </a:solidFill>
                <a:latin typeface="Calibri"/>
              </a:rPr>
              <a:t>Localizează fața, detectează limitele geometrice și proiectează un mesh facial dinamic, un cerc de boundary și un laser pulsatoriu la 30+ FPS.</a:t>
            </a:r>
          </a:p>
          <a:p>
            <a:pPr lvl="1">
              <a:spcAft>
                <a:spcPts val="400"/>
              </a:spcAft>
            </a:pPr>
            <a:r>
              <a:rPr b="1" sz="1300">
                <a:solidFill>
                  <a:srgbClr val="334155"/>
                </a:solidFill>
                <a:latin typeface="Calibri"/>
              </a:rPr>
              <a:t>Face Expression Net: </a:t>
            </a:r>
            <a:r>
              <a:rPr sz="1300">
                <a:solidFill>
                  <a:srgbClr val="334155"/>
                </a:solidFill>
                <a:latin typeface="Calibri"/>
              </a:rPr>
              <a:t>Clasifică în timp real probabilitățile celor 7 expresii de bază: tristețe, fericire, furie, frică, neutralitate, dezgust, surpriză.</a:t>
            </a:r>
          </a:p>
          <a:p>
            <a:pPr>
              <a:spcAft>
                <a:spcPts val="800"/>
              </a:spcAft>
            </a:pPr>
            <a:r>
              <a:rPr b="1" sz="1500">
                <a:solidFill>
                  <a:srgbClr val="1E293B"/>
                </a:solidFill>
                <a:latin typeface="Calibri"/>
              </a:rPr>
              <a:t>Gestiunea camerei în React: </a:t>
            </a:r>
            <a:r>
              <a:rPr sz="1400">
                <a:solidFill>
                  <a:srgbClr val="1E293B"/>
                </a:solidFill>
                <a:latin typeface="Calibri"/>
              </a:rPr>
              <a:t>Sincronizarea stabilă a camerei web și a canvas-ului suprapus, legând stream-ul media la elementele DOM imediat ce sunt disponibile.</a:t>
            </a:r>
          </a:p>
          <a:p>
            <a:pPr>
              <a:spcAft>
                <a:spcPts val="800"/>
              </a:spcAft>
            </a:pPr>
            <a:r>
              <a:rPr b="1" sz="1500">
                <a:solidFill>
                  <a:srgbClr val="1E293B"/>
                </a:solidFill>
                <a:latin typeface="Calibri"/>
              </a:rPr>
              <a:t>Calibrarea Sensibilității Locale: </a:t>
            </a:r>
            <a:r>
              <a:rPr sz="1400">
                <a:solidFill>
                  <a:srgbClr val="1E293B"/>
                </a:solidFill>
                <a:latin typeface="Calibri"/>
              </a:rPr>
              <a:t>Ajustarea manuală a pragurilor de detectare pentru a capta micro-expresiile subtile (irritabilitate, furie, suprimarea fericirii) înaintea trimiterii către server.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365760"/>
            <a:ext cx="10817352" cy="731520"/>
          </a:xfrm>
          <a:prstGeom prst="rect">
            <a:avLst/>
          </a:prstGeom>
          <a:noFill/>
        </p:spPr>
        <p:txBody>
          <a:bodyPr wrap="square" tIns="0" lIns="0">
            <a:spAutoFit/>
          </a:bodyPr>
          <a:lstStyle/>
          <a:p>
            <a:pPr>
              <a:defRPr sz="2200" b="1">
                <a:solidFill>
                  <a:srgbClr val="0F2043"/>
                </a:solidFill>
                <a:latin typeface="Arial"/>
              </a:defRPr>
            </a:pPr>
            <a:r>
              <a:t>Analiza Facială II - Calibrare și Groq Vision Override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1097280"/>
            <a:ext cx="10817352" cy="5303520"/>
          </a:xfrm>
          <a:prstGeom prst="rect">
            <a:avLst/>
          </a:prstGeom>
          <a:noFill/>
        </p:spPr>
        <p:txBody>
          <a:bodyPr wrap="square" tIns="0" lIns="0">
            <a:spAutoFit/>
          </a:bodyPr>
          <a:lstStyle/>
          <a:p>
            <a:pPr>
              <a:spcAft>
                <a:spcPts val="800"/>
              </a:spcAft>
            </a:pPr>
            <a:r>
              <a:rPr b="1" sz="1500">
                <a:solidFill>
                  <a:srgbClr val="1E293B"/>
                </a:solidFill>
                <a:latin typeface="Calibri"/>
              </a:rPr>
              <a:t>Algoritmi de Calibrare Clinică (face.py): </a:t>
            </a:r>
            <a:r>
              <a:rPr sz="1400">
                <a:solidFill>
                  <a:srgbClr val="1E293B"/>
                </a:solidFill>
                <a:latin typeface="Calibri"/>
              </a:rPr>
              <a:t>Corectarea probabilităților brute transmise de Face-API.js folosind ecuații liniare continue:</a:t>
            </a:r>
          </a:p>
          <a:p>
            <a:pPr lvl="1">
              <a:spcAft>
                <a:spcPts val="400"/>
              </a:spcAft>
            </a:pPr>
            <a:r>
              <a:rPr b="1" sz="1300">
                <a:solidFill>
                  <a:srgbClr val="334155"/>
                </a:solidFill>
                <a:latin typeface="Calibri"/>
              </a:rPr>
              <a:t>Indicatorul de Anhedonie: </a:t>
            </a:r>
            <a:r>
              <a:rPr sz="1300">
                <a:solidFill>
                  <a:srgbClr val="334155"/>
                </a:solidFill>
                <a:latin typeface="Calibri"/>
              </a:rPr>
              <a:t>anhedonia_score = max(0, 100 - happy_score * 1.5). Valoarea este maximă la absența completă a zâmbetului.</a:t>
            </a:r>
          </a:p>
          <a:p>
            <a:pPr lvl="1">
              <a:spcAft>
                <a:spcPts val="400"/>
              </a:spcAft>
            </a:pPr>
            <a:r>
              <a:rPr b="1" sz="1300">
                <a:solidFill>
                  <a:srgbClr val="334155"/>
                </a:solidFill>
                <a:latin typeface="Calibri"/>
              </a:rPr>
              <a:t>Formula Scorului Brut: </a:t>
            </a:r>
            <a:r>
              <a:rPr sz="1300">
                <a:solidFill>
                  <a:srgbClr val="334155"/>
                </a:solidFill>
                <a:latin typeface="Calibri"/>
              </a:rPr>
              <a:t>sadness * 0.50 + anhedonia * 0.30 + anxiety * 0.20 + irritability * 0.10 + flat_affect * 0.10.</a:t>
            </a:r>
          </a:p>
          <a:p>
            <a:pPr lvl="1">
              <a:spcAft>
                <a:spcPts val="400"/>
              </a:spcAft>
            </a:pPr>
            <a:r>
              <a:rPr b="1" sz="1300">
                <a:solidFill>
                  <a:srgbClr val="334155"/>
                </a:solidFill>
                <a:latin typeface="Calibri"/>
              </a:rPr>
              <a:t>Suprimarea Activă a Fericirii: </a:t>
            </a:r>
            <a:r>
              <a:rPr sz="1300">
                <a:solidFill>
                  <a:srgbClr val="334155"/>
                </a:solidFill>
                <a:latin typeface="Calibri"/>
              </a:rPr>
              <a:t>happiness_suppressor = max(0, 1.0 - happy_score / 60.0). Un zâmbet autentic (&gt;60%) forțează scorul facial de depresie la 0%.</a:t>
            </a:r>
          </a:p>
          <a:p>
            <a:pPr>
              <a:spcAft>
                <a:spcPts val="800"/>
              </a:spcAft>
            </a:pPr>
            <a:r>
              <a:rPr b="1" sz="1500">
                <a:solidFill>
                  <a:srgbClr val="1E293B"/>
                </a:solidFill>
                <a:latin typeface="Calibri"/>
              </a:rPr>
              <a:t>Compensare Hibridă cu Groq Vision (Llama Scout 17B): </a:t>
            </a:r>
            <a:r>
              <a:rPr sz="1400">
                <a:solidFill>
                  <a:srgbClr val="1E293B"/>
                </a:solidFill>
                <a:latin typeface="Calibri"/>
              </a:rPr>
              <a:t>Rezolvarea limitărilor rețelelor locale din browser:</a:t>
            </a:r>
          </a:p>
          <a:p>
            <a:pPr lvl="1">
              <a:spcAft>
                <a:spcPts val="400"/>
              </a:spcAft>
            </a:pPr>
            <a:r>
              <a:rPr b="1" sz="1300">
                <a:solidFill>
                  <a:srgbClr val="334155"/>
                </a:solidFill>
                <a:latin typeface="Calibri"/>
              </a:rPr>
              <a:t>Limitări locale: </a:t>
            </a:r>
            <a:r>
              <a:rPr sz="1300">
                <a:solidFill>
                  <a:srgbClr val="334155"/>
                </a:solidFill>
                <a:latin typeface="Calibri"/>
              </a:rPr>
              <a:t>Ochii închiși/plânși sau umbrele faciale sunt interpretate greșit ca stare neutră de modelele locale.</a:t>
            </a:r>
          </a:p>
          <a:p>
            <a:pPr lvl="1">
              <a:spcAft>
                <a:spcPts val="400"/>
              </a:spcAft>
            </a:pPr>
            <a:r>
              <a:rPr b="1" sz="1300">
                <a:solidFill>
                  <a:srgbClr val="334155"/>
                </a:solidFill>
                <a:latin typeface="Calibri"/>
              </a:rPr>
              <a:t>Groq Vision: </a:t>
            </a:r>
            <a:r>
              <a:rPr sz="1300">
                <a:solidFill>
                  <a:srgbClr val="334155"/>
                </a:solidFill>
                <a:latin typeface="Calibri"/>
              </a:rPr>
              <a:t>Serverul trimite instantaneul la Llama Scout. Acesta analizează postura, ochii strânși și contextul, suprascriind scorurile brute din browser în caz de anomalie.</a:t>
            </a:r>
          </a:p>
          <a:p>
            <a:pPr lvl="1">
              <a:spcAft>
                <a:spcPts val="400"/>
              </a:spcAft>
            </a:pPr>
            <a:r>
              <a:rPr b="1" sz="1300">
                <a:solidFill>
                  <a:srgbClr val="334155"/>
                </a:solidFill>
                <a:latin typeface="Calibri"/>
              </a:rPr>
              <a:t>Detecție de Urgență: </a:t>
            </a:r>
            <a:r>
              <a:rPr sz="1300">
                <a:solidFill>
                  <a:srgbClr val="334155"/>
                </a:solidFill>
                <a:latin typeface="Calibri"/>
              </a:rPr>
              <a:t>Identificarea obiectelor periculoase în cadru (cuțite, arme) ce indică pericole iminente pentru siguranța utilizatorului.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365760"/>
            <a:ext cx="10817352" cy="731520"/>
          </a:xfrm>
          <a:prstGeom prst="rect">
            <a:avLst/>
          </a:prstGeom>
          <a:noFill/>
        </p:spPr>
        <p:txBody>
          <a:bodyPr wrap="square" tIns="0" lIns="0">
            <a:spAutoFit/>
          </a:bodyPr>
          <a:lstStyle/>
          <a:p>
            <a:pPr>
              <a:defRPr sz="2200" b="1">
                <a:solidFill>
                  <a:srgbClr val="0F2043"/>
                </a:solidFill>
                <a:latin typeface="Arial"/>
              </a:defRPr>
            </a:pPr>
            <a:r>
              <a:t>Analiza Vocală - Transcriere și Procesare DSP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1097280"/>
            <a:ext cx="10817352" cy="5303520"/>
          </a:xfrm>
          <a:prstGeom prst="rect">
            <a:avLst/>
          </a:prstGeom>
          <a:noFill/>
        </p:spPr>
        <p:txBody>
          <a:bodyPr wrap="square" tIns="0" lIns="0">
            <a:spAutoFit/>
          </a:bodyPr>
          <a:lstStyle/>
          <a:p>
            <a:pPr>
              <a:spcAft>
                <a:spcPts val="800"/>
              </a:spcAft>
            </a:pPr>
            <a:r>
              <a:rPr b="1" sz="1500">
                <a:solidFill>
                  <a:srgbClr val="1E293B"/>
                </a:solidFill>
                <a:latin typeface="Calibri"/>
              </a:rPr>
              <a:t>Captare și Transcriere Vocală (Groq Whisper-large-v3): </a:t>
            </a:r>
            <a:r>
              <a:rPr sz="1400">
                <a:solidFill>
                  <a:srgbClr val="1E293B"/>
                </a:solidFill>
                <a:latin typeface="Calibri"/>
              </a:rPr>
              <a:t>Microfonul înregistrează sunetul în format WAV necomprimat, trimis ca Base64:</a:t>
            </a:r>
          </a:p>
          <a:p>
            <a:pPr lvl="1">
              <a:spcAft>
                <a:spcPts val="400"/>
              </a:spcAft>
            </a:pPr>
            <a:r>
              <a:rPr b="1" sz="1300">
                <a:solidFill>
                  <a:srgbClr val="334155"/>
                </a:solidFill>
                <a:latin typeface="Calibri"/>
              </a:rPr>
              <a:t>Auto-Language Detection: </a:t>
            </a:r>
            <a:r>
              <a:rPr sz="1300">
                <a:solidFill>
                  <a:srgbClr val="334155"/>
                </a:solidFill>
                <a:latin typeface="Calibri"/>
              </a:rPr>
              <a:t>Whisper detectează dinamic limba vorbită (română/engleză), prevenind erorile fonetice de transcriere.</a:t>
            </a:r>
          </a:p>
          <a:p>
            <a:pPr lvl="1">
              <a:spcAft>
                <a:spcPts val="400"/>
              </a:spcAft>
            </a:pPr>
            <a:r>
              <a:rPr b="1" sz="1300">
                <a:solidFill>
                  <a:srgbClr val="334155"/>
                </a:solidFill>
                <a:latin typeface="Calibri"/>
              </a:rPr>
              <a:t>Integrare semantică: </a:t>
            </a:r>
            <a:r>
              <a:rPr sz="1300">
                <a:solidFill>
                  <a:srgbClr val="334155"/>
                </a:solidFill>
                <a:latin typeface="Calibri"/>
              </a:rPr>
              <a:t>Textul transcris este analizat de Llama și integrat automat în istoricul text al bazei de date.</a:t>
            </a:r>
          </a:p>
          <a:p>
            <a:pPr>
              <a:spcAft>
                <a:spcPts val="800"/>
              </a:spcAft>
            </a:pPr>
            <a:r>
              <a:rPr b="1" sz="1500">
                <a:solidFill>
                  <a:srgbClr val="1E293B"/>
                </a:solidFill>
                <a:latin typeface="Calibri"/>
              </a:rPr>
              <a:t>Procesarea Semnalelor Digitale (DSP) Hibridă (voice.py): </a:t>
            </a:r>
            <a:r>
              <a:rPr sz="1400">
                <a:solidFill>
                  <a:srgbClr val="1E293B"/>
                </a:solidFill>
                <a:latin typeface="Calibri"/>
              </a:rPr>
              <a:t>Extragerea trăsăturilor paralingvistice acustice din fișierul audio:</a:t>
            </a:r>
          </a:p>
          <a:p>
            <a:pPr lvl="1">
              <a:spcAft>
                <a:spcPts val="400"/>
              </a:spcAft>
            </a:pPr>
            <a:r>
              <a:rPr b="1" sz="1300">
                <a:solidFill>
                  <a:srgbClr val="334155"/>
                </a:solidFill>
                <a:latin typeface="Calibri"/>
              </a:rPr>
              <a:t>Librosa (Motor Principal): </a:t>
            </a:r>
            <a:r>
              <a:rPr sz="1300">
                <a:solidFill>
                  <a:srgbClr val="334155"/>
                </a:solidFill>
                <a:latin typeface="Calibri"/>
              </a:rPr>
              <a:t>Calculează energia RMS, tempo-ul (BPM), rata trecerii prin zero (ZCR) și centroidul spectral.</a:t>
            </a:r>
          </a:p>
          <a:p>
            <a:pPr lvl="1">
              <a:spcAft>
                <a:spcPts val="400"/>
              </a:spcAft>
            </a:pPr>
            <a:r>
              <a:rPr b="1" sz="1300">
                <a:solidFill>
                  <a:srgbClr val="334155"/>
                </a:solidFill>
                <a:latin typeface="Calibri"/>
              </a:rPr>
              <a:t>Wave + NumPy Fallback: </a:t>
            </a:r>
            <a:r>
              <a:rPr sz="1300">
                <a:solidFill>
                  <a:srgbClr val="334155"/>
                </a:solidFill>
                <a:latin typeface="Calibri"/>
              </a:rPr>
              <a:t>Dacă Librosa lipsește pe sistemul gazdă, un parser proprietar citește antetul WAV și datele PCM. NumPy calculează energia medie și ZCR direct pe semnalul normalizat în intervalul [-1.0, 1.0].</a:t>
            </a:r>
          </a:p>
          <a:p>
            <a:pPr>
              <a:spcAft>
                <a:spcPts val="800"/>
              </a:spcAft>
            </a:pPr>
            <a:r>
              <a:rPr b="1" sz="1500">
                <a:solidFill>
                  <a:srgbClr val="1E293B"/>
                </a:solidFill>
                <a:latin typeface="Calibri"/>
              </a:rPr>
              <a:t>Indicatori de Depresie Vocală: </a:t>
            </a:r>
            <a:r>
              <a:rPr sz="1400">
                <a:solidFill>
                  <a:srgbClr val="1E293B"/>
                </a:solidFill>
                <a:latin typeface="Calibri"/>
              </a:rPr>
              <a:t>Scoruri de risc calculate pe baza parametrilor:</a:t>
            </a:r>
          </a:p>
          <a:p>
            <a:pPr lvl="1">
              <a:spcAft>
                <a:spcPts val="400"/>
              </a:spcAft>
            </a:pPr>
            <a:r>
              <a:rPr b="1" sz="1300">
                <a:solidFill>
                  <a:srgbClr val="334155"/>
                </a:solidFill>
                <a:latin typeface="Calibri"/>
              </a:rPr>
              <a:t>Energie redusă: </a:t>
            </a:r>
            <a:r>
              <a:rPr sz="1300">
                <a:solidFill>
                  <a:srgbClr val="334155"/>
                </a:solidFill>
                <a:latin typeface="Calibri"/>
              </a:rPr>
              <a:t>Corespondența clinică cu oboseala, vocalizarea plată și letargia.</a:t>
            </a:r>
          </a:p>
          <a:p>
            <a:pPr lvl="1">
              <a:spcAft>
                <a:spcPts val="400"/>
              </a:spcAft>
            </a:pPr>
            <a:r>
              <a:rPr b="1" sz="1300">
                <a:solidFill>
                  <a:srgbClr val="334155"/>
                </a:solidFill>
                <a:latin typeface="Calibri"/>
              </a:rPr>
              <a:t>Tempo scăzut: </a:t>
            </a:r>
            <a:r>
              <a:rPr sz="1300">
                <a:solidFill>
                  <a:srgbClr val="334155"/>
                </a:solidFill>
                <a:latin typeface="Calibri"/>
              </a:rPr>
              <a:t>Indică retardul psihomotor și vorbirea extrem de lentă.</a:t>
            </a:r>
          </a:p>
          <a:p>
            <a:pPr lvl="1">
              <a:spcAft>
                <a:spcPts val="400"/>
              </a:spcAft>
            </a:pPr>
            <a:r>
              <a:rPr b="1" sz="1300">
                <a:solidFill>
                  <a:srgbClr val="334155"/>
                </a:solidFill>
                <a:latin typeface="Calibri"/>
              </a:rPr>
              <a:t>ZCR redus: </a:t>
            </a:r>
            <a:r>
              <a:rPr sz="1300">
                <a:solidFill>
                  <a:srgbClr val="334155"/>
                </a:solidFill>
                <a:latin typeface="Calibri"/>
              </a:rPr>
              <a:t>Asociat cu vorbirea neclară, mormăită și lipsa de articulație clară.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365760"/>
            <a:ext cx="10817352" cy="731520"/>
          </a:xfrm>
          <a:prstGeom prst="rect">
            <a:avLst/>
          </a:prstGeom>
          <a:noFill/>
        </p:spPr>
        <p:txBody>
          <a:bodyPr wrap="square" tIns="0" lIns="0">
            <a:spAutoFit/>
          </a:bodyPr>
          <a:lstStyle/>
          <a:p>
            <a:pPr>
              <a:defRPr sz="2200" b="1">
                <a:solidFill>
                  <a:srgbClr val="0F2043"/>
                </a:solidFill>
                <a:latin typeface="Arial"/>
              </a:defRPr>
            </a:pPr>
            <a:r>
              <a:t>Fuziunea Multimodală și override-urile de siguranță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1097280"/>
            <a:ext cx="10817352" cy="5303520"/>
          </a:xfrm>
          <a:prstGeom prst="rect">
            <a:avLst/>
          </a:prstGeom>
          <a:noFill/>
        </p:spPr>
        <p:txBody>
          <a:bodyPr wrap="square" tIns="0" lIns="0">
            <a:spAutoFit/>
          </a:bodyPr>
          <a:lstStyle/>
          <a:p>
            <a:pPr>
              <a:spcAft>
                <a:spcPts val="800"/>
              </a:spcAft>
            </a:pPr>
            <a:r>
              <a:rPr b="1" sz="1500">
                <a:solidFill>
                  <a:srgbClr val="1E293B"/>
                </a:solidFill>
                <a:latin typeface="Calibri"/>
              </a:rPr>
              <a:t>Algoritmul de Fuziune Multimodală: </a:t>
            </a:r>
            <a:r>
              <a:rPr sz="1400">
                <a:solidFill>
                  <a:srgbClr val="1E293B"/>
                </a:solidFill>
                <a:latin typeface="Calibri"/>
              </a:rPr>
              <a:t>Agregare la nivel de decizie (late fusion) folosind ponderi asimetrice:</a:t>
            </a:r>
          </a:p>
          <a:p>
            <a:pPr lvl="1">
              <a:spcAft>
                <a:spcPts val="400"/>
              </a:spcAft>
            </a:pPr>
            <a:r>
              <a:rPr b="1" sz="1300">
                <a:solidFill>
                  <a:srgbClr val="334155"/>
                </a:solidFill>
                <a:latin typeface="Calibri"/>
              </a:rPr>
              <a:t>Formula generală: </a:t>
            </a:r>
            <a:r>
              <a:rPr sz="1300">
                <a:solidFill>
                  <a:srgbClr val="334155"/>
                </a:solidFill>
                <a:latin typeface="Calibri"/>
              </a:rPr>
              <a:t>Scor Combinat = (Scor Text * 0.50) + (Scor Voce * 0.25) + (Scor Față * 0.25).</a:t>
            </a:r>
          </a:p>
          <a:p>
            <a:pPr>
              <a:spcAft>
                <a:spcPts val="800"/>
              </a:spcAft>
            </a:pPr>
            <a:r>
              <a:rPr b="1" sz="1500">
                <a:solidFill>
                  <a:srgbClr val="1E293B"/>
                </a:solidFill>
                <a:latin typeface="Calibri"/>
              </a:rPr>
              <a:t>Calculul Scorului de Încredere (Confidence Score): </a:t>
            </a:r>
            <a:r>
              <a:rPr sz="1400">
                <a:solidFill>
                  <a:srgbClr val="1E293B"/>
                </a:solidFill>
                <a:latin typeface="Calibri"/>
              </a:rPr>
              <a:t>Evaluarea divergenței semnalelor clinice:</a:t>
            </a:r>
          </a:p>
          <a:p>
            <a:pPr lvl="1">
              <a:spcAft>
                <a:spcPts val="400"/>
              </a:spcAft>
            </a:pPr>
            <a:r>
              <a:rPr b="1" sz="1300">
                <a:solidFill>
                  <a:srgbClr val="334155"/>
                </a:solidFill>
                <a:latin typeface="Calibri"/>
              </a:rPr>
              <a:t>Formulă: </a:t>
            </a:r>
            <a:r>
              <a:rPr sz="1300">
                <a:solidFill>
                  <a:srgbClr val="334155"/>
                </a:solidFill>
                <a:latin typeface="Calibri"/>
              </a:rPr>
              <a:t>Divergență = max(|T-V|, |T-F|, |V-F|). Încrederea = 100 - Divergență.</a:t>
            </a:r>
          </a:p>
          <a:p>
            <a:pPr lvl="1">
              <a:spcAft>
                <a:spcPts val="400"/>
              </a:spcAft>
            </a:pPr>
            <a:r>
              <a:rPr b="1" sz="1300">
                <a:solidFill>
                  <a:srgbClr val="334155"/>
                </a:solidFill>
                <a:latin typeface="Calibri"/>
              </a:rPr>
              <a:t>Utilitate clinică: </a:t>
            </a:r>
            <a:r>
              <a:rPr sz="1300">
                <a:solidFill>
                  <a:srgbClr val="334155"/>
                </a:solidFill>
                <a:latin typeface="Calibri"/>
              </a:rPr>
              <a:t>O încredere mică semnalează disimularea (ex. text suicidal trimis cu o mimică zâmbitoare).</a:t>
            </a:r>
          </a:p>
          <a:p>
            <a:pPr>
              <a:spcAft>
                <a:spcPts val="800"/>
              </a:spcAft>
            </a:pPr>
            <a:r>
              <a:rPr b="1" sz="1500">
                <a:solidFill>
                  <a:srgbClr val="1E293B"/>
                </a:solidFill>
                <a:latin typeface="Calibri"/>
              </a:rPr>
              <a:t>Override de Siguranță Clinică (Text Content Priority): </a:t>
            </a:r>
            <a:r>
              <a:rPr sz="1400">
                <a:solidFill>
                  <a:srgbClr val="1E293B"/>
                </a:solidFill>
                <a:latin typeface="Calibri"/>
              </a:rPr>
              <a:t>Semantica prevalează întotdeauna în fața acusticii:</a:t>
            </a:r>
          </a:p>
          <a:p>
            <a:pPr lvl="1">
              <a:spcAft>
                <a:spcPts val="400"/>
              </a:spcAft>
            </a:pPr>
            <a:r>
              <a:rPr b="1" sz="1300">
                <a:solidFill>
                  <a:srgbClr val="334155"/>
                </a:solidFill>
                <a:latin typeface="Calibri"/>
              </a:rPr>
              <a:t>Logică: </a:t>
            </a:r>
            <a:r>
              <a:rPr sz="1300">
                <a:solidFill>
                  <a:srgbClr val="334155"/>
                </a:solidFill>
                <a:latin typeface="Calibri"/>
              </a:rPr>
              <a:t>Dacă textul indică un risc ridicat (ex. fraze critice, auto-vătămare), scorul textului suprascrie scorul acustic. Previne situațiile în care planurile de suicid sunt rostite cu o voce artificial calmă.</a:t>
            </a:r>
          </a:p>
          <a:p>
            <a:pPr>
              <a:spcAft>
                <a:spcPts val="800"/>
              </a:spcAft>
            </a:pPr>
            <a:r>
              <a:rPr b="1" sz="1500">
                <a:solidFill>
                  <a:srgbClr val="1E293B"/>
                </a:solidFill>
                <a:latin typeface="Calibri"/>
              </a:rPr>
              <a:t>Algoritmul de Carantină (Viteză de variație): </a:t>
            </a:r>
            <a:r>
              <a:rPr sz="1400">
                <a:solidFill>
                  <a:srgbClr val="1E293B"/>
                </a:solidFill>
                <a:latin typeface="Calibri"/>
              </a:rPr>
              <a:t>Protecție împotriva falselor îmbunătățiri:</a:t>
            </a:r>
          </a:p>
          <a:p>
            <a:pPr lvl="1">
              <a:spcAft>
                <a:spcPts val="400"/>
              </a:spcAft>
            </a:pPr>
            <a:r>
              <a:rPr b="1" sz="1300">
                <a:solidFill>
                  <a:srgbClr val="334155"/>
                </a:solidFill>
                <a:latin typeface="Calibri"/>
              </a:rPr>
              <a:t>Logică: </a:t>
            </a:r>
            <a:r>
              <a:rPr sz="1300">
                <a:solidFill>
                  <a:srgbClr val="334155"/>
                </a:solidFill>
                <a:latin typeface="Calibri"/>
              </a:rPr>
              <a:t>Dacă scorul anterior a fost critic (&gt;= 70%), scorul curent nu poate scădea cu mai mult de 15% pe mesaj. Împiedică închiderea evaluării de către un utilizator aflat în criză prin disimularea bruscă a stării.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365760"/>
            <a:ext cx="10817352" cy="731520"/>
          </a:xfrm>
          <a:prstGeom prst="rect">
            <a:avLst/>
          </a:prstGeom>
          <a:noFill/>
        </p:spPr>
        <p:txBody>
          <a:bodyPr wrap="square" tIns="0" lIns="0">
            <a:spAutoFit/>
          </a:bodyPr>
          <a:lstStyle/>
          <a:p>
            <a:pPr>
              <a:defRPr sz="2200" b="1">
                <a:solidFill>
                  <a:srgbClr val="0F2043"/>
                </a:solidFill>
                <a:latin typeface="Arial"/>
              </a:defRPr>
            </a:pPr>
            <a:r>
              <a:t>Persistența Datelor, Securitate și Conformitate GDPR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1097280"/>
            <a:ext cx="10817352" cy="5303520"/>
          </a:xfrm>
          <a:prstGeom prst="rect">
            <a:avLst/>
          </a:prstGeom>
          <a:noFill/>
        </p:spPr>
        <p:txBody>
          <a:bodyPr wrap="square" tIns="0" lIns="0">
            <a:spAutoFit/>
          </a:bodyPr>
          <a:lstStyle/>
          <a:p>
            <a:pPr>
              <a:spcAft>
                <a:spcPts val="800"/>
              </a:spcAft>
            </a:pPr>
            <a:r>
              <a:rPr b="1" sz="1500">
                <a:solidFill>
                  <a:srgbClr val="1E293B"/>
                </a:solidFill>
                <a:latin typeface="Calibri"/>
              </a:rPr>
              <a:t>Structura Bazei de Date (SQLite local): </a:t>
            </a:r>
            <a:r>
              <a:rPr sz="1400">
                <a:solidFill>
                  <a:srgbClr val="1E293B"/>
                </a:solidFill>
                <a:latin typeface="Calibri"/>
              </a:rPr>
              <a:t>Sistem de persistență minimalist într-un singur fișier (mindscan_history.db) cu 5 tabele relaționale:</a:t>
            </a:r>
          </a:p>
          <a:p>
            <a:pPr lvl="1">
              <a:spcAft>
                <a:spcPts val="400"/>
              </a:spcAft>
            </a:pPr>
            <a:r>
              <a:rPr b="1" sz="1300">
                <a:solidFill>
                  <a:srgbClr val="334155"/>
                </a:solidFill>
                <a:latin typeface="Calibri"/>
              </a:rPr>
              <a:t>chats: </a:t>
            </a:r>
            <a:r>
              <a:rPr sz="1300">
                <a:solidFill>
                  <a:srgbClr val="334155"/>
                </a:solidFill>
                <a:latin typeface="Calibri"/>
              </a:rPr>
              <a:t>Id-ul sesiunii, numele persoanei evaluate și timestamps.</a:t>
            </a:r>
          </a:p>
          <a:p>
            <a:pPr lvl="1">
              <a:spcAft>
                <a:spcPts val="400"/>
              </a:spcAft>
            </a:pPr>
            <a:r>
              <a:rPr b="1" sz="1300">
                <a:solidFill>
                  <a:srgbClr val="334155"/>
                </a:solidFill>
                <a:latin typeface="Calibri"/>
              </a:rPr>
              <a:t>analize: </a:t>
            </a:r>
            <a:r>
              <a:rPr sz="1300">
                <a:solidFill>
                  <a:srgbClr val="334155"/>
                </a:solidFill>
                <a:latin typeface="Calibri"/>
              </a:rPr>
              <a:t>Istoricul text, scorurile semantice, raționamentul LLM și feedback-ul empatic.</a:t>
            </a:r>
          </a:p>
          <a:p>
            <a:pPr lvl="1">
              <a:spcAft>
                <a:spcPts val="400"/>
              </a:spcAft>
            </a:pPr>
            <a:r>
              <a:rPr b="1" sz="1300">
                <a:solidFill>
                  <a:srgbClr val="334155"/>
                </a:solidFill>
                <a:latin typeface="Calibri"/>
              </a:rPr>
              <a:t>voice_analysis &amp; face_analysis: </a:t>
            </a:r>
            <a:r>
              <a:rPr sz="1300">
                <a:solidFill>
                  <a:srgbClr val="334155"/>
                </a:solidFill>
                <a:latin typeface="Calibri"/>
              </a:rPr>
              <a:t>Transcrierea audio, parametrii biometrici brut și calea fișierelor pe disc.</a:t>
            </a:r>
          </a:p>
          <a:p>
            <a:pPr lvl="1">
              <a:spcAft>
                <a:spcPts val="400"/>
              </a:spcAft>
            </a:pPr>
            <a:r>
              <a:rPr b="1" sz="1300">
                <a:solidFill>
                  <a:srgbClr val="334155"/>
                </a:solidFill>
                <a:latin typeface="Calibri"/>
              </a:rPr>
              <a:t>multimodal_analysis: </a:t>
            </a:r>
            <a:r>
              <a:rPr sz="1300">
                <a:solidFill>
                  <a:srgbClr val="334155"/>
                </a:solidFill>
                <a:latin typeface="Calibri"/>
              </a:rPr>
              <a:t>Scorurile agregate finale și încrederea multimodală.</a:t>
            </a:r>
          </a:p>
          <a:p>
            <a:pPr>
              <a:spcAft>
                <a:spcPts val="800"/>
              </a:spcAft>
            </a:pPr>
            <a:r>
              <a:rPr b="1" sz="1500">
                <a:solidFill>
                  <a:srgbClr val="1E293B"/>
                </a:solidFill>
                <a:latin typeface="Calibri"/>
              </a:rPr>
              <a:t>Securitatea Bazelor de Date (SQL Injection): </a:t>
            </a:r>
            <a:r>
              <a:rPr sz="1400">
                <a:solidFill>
                  <a:srgbClr val="1E293B"/>
                </a:solidFill>
                <a:latin typeface="Calibri"/>
              </a:rPr>
              <a:t>Toate interogările folosesc interogări complet parametrizate (prepared statements cu placeholders '?'). Nicio intrare de la utilizator nu este concatenată direct în SQL.</a:t>
            </a:r>
          </a:p>
          <a:p>
            <a:pPr>
              <a:spcAft>
                <a:spcPts val="800"/>
              </a:spcAft>
            </a:pPr>
            <a:r>
              <a:rPr b="1" sz="1500">
                <a:solidFill>
                  <a:srgbClr val="1E293B"/>
                </a:solidFill>
                <a:latin typeface="Calibri"/>
              </a:rPr>
              <a:t>Gestiunea Concurenței: </a:t>
            </a:r>
            <a:r>
              <a:rPr sz="1400">
                <a:solidFill>
                  <a:srgbClr val="1E293B"/>
                </a:solidFill>
                <a:latin typeface="Calibri"/>
              </a:rPr>
              <a:t>Configurarea unui timeout de 10.0 secunde pe conexiunea SQLite pentru a asigura scrieri concurente ordonate, fără blocarea bazei de date (database locked).</a:t>
            </a:r>
          </a:p>
          <a:p>
            <a:pPr>
              <a:spcAft>
                <a:spcPts val="800"/>
              </a:spcAft>
            </a:pPr>
            <a:r>
              <a:rPr b="1" sz="1500">
                <a:solidFill>
                  <a:srgbClr val="1E293B"/>
                </a:solidFill>
                <a:latin typeface="Calibri"/>
              </a:rPr>
              <a:t>Ștergerea Securizată (GDPR Compliance): </a:t>
            </a:r>
            <a:r>
              <a:rPr sz="1400">
                <a:solidFill>
                  <a:srgbClr val="1E293B"/>
                </a:solidFill>
                <a:latin typeface="Calibri"/>
              </a:rPr>
              <a:t>La click pe 'Șterge Istoricul', serverul Flask identifică URL-urile din DB, șterge fizic fișierele binare (.wav și .jpg) din folderul uploads/ folosind os.remove(), apoi execută comanda DELETE din tabele.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365760"/>
            <a:ext cx="10817352" cy="731520"/>
          </a:xfrm>
          <a:prstGeom prst="rect">
            <a:avLst/>
          </a:prstGeom>
          <a:noFill/>
        </p:spPr>
        <p:txBody>
          <a:bodyPr wrap="square" tIns="0" lIns="0">
            <a:spAutoFit/>
          </a:bodyPr>
          <a:lstStyle/>
          <a:p>
            <a:pPr>
              <a:defRPr sz="2200" b="1">
                <a:solidFill>
                  <a:srgbClr val="0F2043"/>
                </a:solidFill>
                <a:latin typeface="Arial"/>
              </a:defRPr>
            </a:pPr>
            <a:r>
              <a:t>Interfața Grafică (UX) și Optimizări de Stabilitate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1097280"/>
            <a:ext cx="10817352" cy="5303520"/>
          </a:xfrm>
          <a:prstGeom prst="rect">
            <a:avLst/>
          </a:prstGeom>
          <a:noFill/>
        </p:spPr>
        <p:txBody>
          <a:bodyPr wrap="square" tIns="0" lIns="0">
            <a:spAutoFit/>
          </a:bodyPr>
          <a:lstStyle/>
          <a:p>
            <a:pPr>
              <a:spcAft>
                <a:spcPts val="800"/>
              </a:spcAft>
            </a:pPr>
            <a:r>
              <a:rPr b="1" sz="1500">
                <a:solidFill>
                  <a:srgbClr val="1E293B"/>
                </a:solidFill>
                <a:latin typeface="Calibri"/>
              </a:rPr>
              <a:t>Panoul de Vizualizare (Dashboard): </a:t>
            </a:r>
            <a:r>
              <a:rPr sz="1400">
                <a:solidFill>
                  <a:srgbClr val="1E293B"/>
                </a:solidFill>
                <a:latin typeface="Calibri"/>
              </a:rPr>
              <a:t>Grafice evolutive dinamice ce compară canalele text, voce și față pe o linie temporală pentru a surprinde dinamica afectivă a utilizatorului.</a:t>
            </a:r>
          </a:p>
          <a:p>
            <a:pPr>
              <a:spcAft>
                <a:spcPts val="800"/>
              </a:spcAft>
            </a:pPr>
            <a:r>
              <a:rPr b="1" sz="1500">
                <a:solidFill>
                  <a:srgbClr val="1E293B"/>
                </a:solidFill>
                <a:latin typeface="Calibri"/>
              </a:rPr>
              <a:t>Sistemul de Alertare Critică: </a:t>
            </a:r>
            <a:r>
              <a:rPr sz="1400">
                <a:solidFill>
                  <a:srgbClr val="1E293B"/>
                </a:solidFill>
                <a:latin typeface="Calibri"/>
              </a:rPr>
              <a:t>Integrarea componentei EmergencyPopup în React:</a:t>
            </a:r>
          </a:p>
          <a:p>
            <a:pPr lvl="1">
              <a:spcAft>
                <a:spcPts val="400"/>
              </a:spcAft>
            </a:pPr>
            <a:r>
              <a:rPr b="1" sz="1300">
                <a:solidFill>
                  <a:srgbClr val="334155"/>
                </a:solidFill>
                <a:latin typeface="Calibri"/>
              </a:rPr>
              <a:t>Declanșare: </a:t>
            </a:r>
            <a:r>
              <a:rPr sz="1300">
                <a:solidFill>
                  <a:srgbClr val="334155"/>
                </a:solidFill>
                <a:latin typeface="Calibri"/>
              </a:rPr>
              <a:t>La determinarea unui risc combinat clinic de peste 95% (fie prin text, fie prin voce).</a:t>
            </a:r>
          </a:p>
          <a:p>
            <a:pPr lvl="1">
              <a:spcAft>
                <a:spcPts val="400"/>
              </a:spcAft>
            </a:pPr>
            <a:r>
              <a:rPr b="1" sz="1300">
                <a:solidFill>
                  <a:srgbClr val="334155"/>
                </a:solidFill>
                <a:latin typeface="Calibri"/>
              </a:rPr>
              <a:t>Conținut: </a:t>
            </a:r>
            <a:r>
              <a:rPr sz="1300">
                <a:solidFill>
                  <a:srgbClr val="334155"/>
                </a:solidFill>
                <a:latin typeface="Calibri"/>
              </a:rPr>
              <a:t>Afișarea contactelor de urgență antisuicid naționale (112, Alianța Română Antisuicid) și măsuri imediate de calmare.</a:t>
            </a:r>
          </a:p>
          <a:p>
            <a:pPr>
              <a:spcAft>
                <a:spcPts val="800"/>
              </a:spcAft>
            </a:pPr>
            <a:r>
              <a:rPr b="1" sz="1500">
                <a:solidFill>
                  <a:srgbClr val="1E293B"/>
                </a:solidFill>
                <a:latin typeface="Calibri"/>
              </a:rPr>
              <a:t>Optimizarea Stabilității Vizuale (Flicker Prevention): </a:t>
            </a:r>
            <a:r>
              <a:rPr sz="1400">
                <a:solidFill>
                  <a:srgbClr val="1E293B"/>
                </a:solidFill>
                <a:latin typeface="Calibri"/>
              </a:rPr>
              <a:t>Rezolvarea defectelor vizuale majore în timpul înregistrării video/audio:</a:t>
            </a:r>
          </a:p>
          <a:p>
            <a:pPr lvl="1">
              <a:spcAft>
                <a:spcPts val="400"/>
              </a:spcAft>
            </a:pPr>
            <a:r>
              <a:rPr b="1" sz="1300">
                <a:solidFill>
                  <a:srgbClr val="334155"/>
                </a:solidFill>
                <a:latin typeface="Calibri"/>
              </a:rPr>
              <a:t>Problema: </a:t>
            </a:r>
            <a:r>
              <a:rPr sz="1300">
                <a:solidFill>
                  <a:srgbClr val="334155"/>
                </a:solidFill>
                <a:latin typeface="Calibri"/>
              </a:rPr>
              <a:t>Schimbarea paginilor (tabs) în React demonta componenta Home, cauzând re-decodarea asincronă a imaginilor din carduri (flicker negru pe filmare).</a:t>
            </a:r>
          </a:p>
          <a:p>
            <a:pPr lvl="1">
              <a:spcAft>
                <a:spcPts val="400"/>
              </a:spcAft>
            </a:pPr>
            <a:r>
              <a:rPr b="1" sz="1300">
                <a:solidFill>
                  <a:srgbClr val="334155"/>
                </a:solidFill>
                <a:latin typeface="Calibri"/>
              </a:rPr>
              <a:t>Soluția React: </a:t>
            </a:r>
            <a:r>
              <a:rPr sz="1300">
                <a:solidFill>
                  <a:srgbClr val="334155"/>
                </a:solidFill>
                <a:latin typeface="Calibri"/>
              </a:rPr>
              <a:t>Modificarea FrontPage.jsx pentru a menține componenta Home montată în DOM în permanență, ascunzând-o/afișând-o prin CSS (display: none / block).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365760"/>
            <a:ext cx="10817352" cy="731520"/>
          </a:xfrm>
          <a:prstGeom prst="rect">
            <a:avLst/>
          </a:prstGeom>
          <a:noFill/>
        </p:spPr>
        <p:txBody>
          <a:bodyPr wrap="square" tIns="0" lIns="0">
            <a:spAutoFit/>
          </a:bodyPr>
          <a:lstStyle/>
          <a:p>
            <a:pPr>
              <a:defRPr sz="2200" b="1">
                <a:solidFill>
                  <a:srgbClr val="0F2043"/>
                </a:solidFill>
                <a:latin typeface="Arial"/>
              </a:defRPr>
            </a:pPr>
            <a:r>
              <a:t>Detalii de Implementare &amp; Mediul de Rulare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1097280"/>
            <a:ext cx="10817352" cy="5303520"/>
          </a:xfrm>
          <a:prstGeom prst="rect">
            <a:avLst/>
          </a:prstGeom>
          <a:noFill/>
        </p:spPr>
        <p:txBody>
          <a:bodyPr wrap="square" tIns="0" lIns="0">
            <a:spAutoFit/>
          </a:bodyPr>
          <a:lstStyle/>
          <a:p>
            <a:pPr>
              <a:spcAft>
                <a:spcPts val="800"/>
              </a:spcAft>
            </a:pPr>
            <a:r>
              <a:rPr b="1" sz="1500">
                <a:solidFill>
                  <a:srgbClr val="1E293B"/>
                </a:solidFill>
                <a:latin typeface="Calibri"/>
              </a:rPr>
              <a:t>Dependențe Principale Frontend (React &amp; NPM): </a:t>
            </a:r>
            <a:r>
              <a:rPr sz="1400">
                <a:solidFill>
                  <a:srgbClr val="1E293B"/>
                </a:solidFill>
                <a:latin typeface="Calibri"/>
              </a:rPr>
              <a:t>Ecosistem bazat pe Node.js cu module importate:</a:t>
            </a:r>
          </a:p>
          <a:p>
            <a:pPr lvl="1">
              <a:spcAft>
                <a:spcPts val="400"/>
              </a:spcAft>
            </a:pPr>
            <a:r>
              <a:rPr b="1" sz="1300">
                <a:solidFill>
                  <a:srgbClr val="334155"/>
                </a:solidFill>
                <a:latin typeface="Calibri"/>
              </a:rPr>
              <a:t>react-router-dom: </a:t>
            </a:r>
            <a:r>
              <a:rPr sz="1300">
                <a:solidFill>
                  <a:srgbClr val="334155"/>
                </a:solidFill>
                <a:latin typeface="Calibri"/>
              </a:rPr>
              <a:t>Gestiunea rutelor interne ale paginilor.</a:t>
            </a:r>
          </a:p>
          <a:p>
            <a:pPr lvl="1">
              <a:spcAft>
                <a:spcPts val="400"/>
              </a:spcAft>
            </a:pPr>
            <a:r>
              <a:rPr b="1" sz="1300">
                <a:solidFill>
                  <a:srgbClr val="334155"/>
                </a:solidFill>
                <a:latin typeface="Calibri"/>
              </a:rPr>
              <a:t>chart.js &amp; react-chartjs-2: </a:t>
            </a:r>
            <a:r>
              <a:rPr sz="1300">
                <a:solidFill>
                  <a:srgbClr val="334155"/>
                </a:solidFill>
                <a:latin typeface="Calibri"/>
              </a:rPr>
              <a:t>Randarea eficientă pe Canvas a graficelor interactive de tip radar și linie.</a:t>
            </a:r>
          </a:p>
          <a:p>
            <a:pPr lvl="1">
              <a:spcAft>
                <a:spcPts val="400"/>
              </a:spcAft>
            </a:pPr>
            <a:r>
              <a:rPr b="1" sz="1300">
                <a:solidFill>
                  <a:srgbClr val="334155"/>
                </a:solidFill>
                <a:latin typeface="Calibri"/>
              </a:rPr>
              <a:t>@vladmandic/face-api: </a:t>
            </a:r>
            <a:r>
              <a:rPr sz="1300">
                <a:solidFill>
                  <a:srgbClr val="334155"/>
                </a:solidFill>
                <a:latin typeface="Calibri"/>
              </a:rPr>
              <a:t>Pachetul npm ce conține modulele pre-antrenate TensorFlow.js utilizate direct.</a:t>
            </a:r>
          </a:p>
          <a:p>
            <a:pPr>
              <a:spcAft>
                <a:spcPts val="800"/>
              </a:spcAft>
            </a:pPr>
            <a:r>
              <a:rPr b="1" sz="1500">
                <a:solidFill>
                  <a:srgbClr val="1E293B"/>
                </a:solidFill>
                <a:latin typeface="Calibri"/>
              </a:rPr>
              <a:t>Dependențe Principale Backend (Python &amp; pip): </a:t>
            </a:r>
            <a:r>
              <a:rPr sz="1400">
                <a:solidFill>
                  <a:srgbClr val="1E293B"/>
                </a:solidFill>
                <a:latin typeface="Calibri"/>
              </a:rPr>
              <a:t>Mediu izolat virtual (venv) în Python 3.10+:</a:t>
            </a:r>
          </a:p>
          <a:p>
            <a:pPr lvl="1">
              <a:spcAft>
                <a:spcPts val="400"/>
              </a:spcAft>
            </a:pPr>
            <a:r>
              <a:rPr b="1" sz="1300">
                <a:solidFill>
                  <a:srgbClr val="334155"/>
                </a:solidFill>
                <a:latin typeface="Calibri"/>
              </a:rPr>
              <a:t>Flask-CORS: </a:t>
            </a:r>
            <a:r>
              <a:rPr sz="1300">
                <a:solidFill>
                  <a:srgbClr val="334155"/>
                </a:solidFill>
                <a:latin typeface="Calibri"/>
              </a:rPr>
              <a:t>Permite schimbul de resurse între porturi diferite (5173 și 5000) și restricționează accesul neautorizat.</a:t>
            </a:r>
          </a:p>
          <a:p>
            <a:pPr lvl="1">
              <a:spcAft>
                <a:spcPts val="400"/>
              </a:spcAft>
            </a:pPr>
            <a:r>
              <a:rPr b="1" sz="1300">
                <a:solidFill>
                  <a:srgbClr val="334155"/>
                </a:solidFill>
                <a:latin typeface="Calibri"/>
              </a:rPr>
              <a:t>groq: </a:t>
            </a:r>
            <a:r>
              <a:rPr sz="1300">
                <a:solidFill>
                  <a:srgbClr val="334155"/>
                </a:solidFill>
                <a:latin typeface="Calibri"/>
              </a:rPr>
              <a:t>Interfața de viteză ultra-ridicată cu LPU Cloud pentru modelele Whisper și Llama.</a:t>
            </a:r>
          </a:p>
          <a:p>
            <a:pPr lvl="1">
              <a:spcAft>
                <a:spcPts val="400"/>
              </a:spcAft>
            </a:pPr>
            <a:r>
              <a:rPr b="1" sz="1300">
                <a:solidFill>
                  <a:srgbClr val="334155"/>
                </a:solidFill>
                <a:latin typeface="Calibri"/>
              </a:rPr>
              <a:t>pytesseract &amp; Pillow (PIL): </a:t>
            </a:r>
            <a:r>
              <a:rPr sz="1300">
                <a:solidFill>
                  <a:srgbClr val="334155"/>
                </a:solidFill>
                <a:latin typeface="Calibri"/>
              </a:rPr>
              <a:t>Transpunerea imaginilor de text încărcate de utilizator în text brut prin apelul binarului local tesseract.exe.</a:t>
            </a:r>
          </a:p>
          <a:p>
            <a:pPr>
              <a:spcAft>
                <a:spcPts val="800"/>
              </a:spcAft>
            </a:pPr>
            <a:r>
              <a:rPr b="1" sz="1500">
                <a:solidFill>
                  <a:srgbClr val="1E293B"/>
                </a:solidFill>
                <a:latin typeface="Calibri"/>
              </a:rPr>
              <a:t>Configurare prin Variabile de Mediu (.env): </a:t>
            </a:r>
            <a:r>
              <a:rPr sz="1400">
                <a:solidFill>
                  <a:srgbClr val="1E293B"/>
                </a:solidFill>
                <a:latin typeface="Calibri"/>
              </a:rPr>
              <a:t>Fiecare instanță citește dinamic configurarea locală:</a:t>
            </a:r>
          </a:p>
          <a:p>
            <a:pPr lvl="1">
              <a:spcAft>
                <a:spcPts val="400"/>
              </a:spcAft>
            </a:pPr>
            <a:r>
              <a:rPr b="1" sz="1300">
                <a:solidFill>
                  <a:srgbClr val="334155"/>
                </a:solidFill>
                <a:latin typeface="Calibri"/>
              </a:rPr>
              <a:t>GROQ_API_KEY: </a:t>
            </a:r>
            <a:r>
              <a:rPr sz="1300">
                <a:solidFill>
                  <a:srgbClr val="334155"/>
                </a:solidFill>
                <a:latin typeface="Calibri"/>
              </a:rPr>
              <a:t>Cheia de autentificare secretă la serviciul Groq Cloud.</a:t>
            </a:r>
          </a:p>
          <a:p>
            <a:pPr lvl="1">
              <a:spcAft>
                <a:spcPts val="400"/>
              </a:spcAft>
            </a:pPr>
            <a:r>
              <a:rPr b="1" sz="1300">
                <a:solidFill>
                  <a:srgbClr val="334155"/>
                </a:solidFill>
                <a:latin typeface="Calibri"/>
              </a:rPr>
              <a:t>TESSERACT_CMD: </a:t>
            </a:r>
            <a:r>
              <a:rPr sz="1300">
                <a:solidFill>
                  <a:srgbClr val="334155"/>
                </a:solidFill>
                <a:latin typeface="Calibri"/>
              </a:rPr>
              <a:t>Calea fizică de pe sistemul gazdă spre executabilul local Tesseract OCR (implicit C:\Program Files\Tesseract-OCR\tesseract.exe).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365760"/>
            <a:ext cx="10817352" cy="731520"/>
          </a:xfrm>
          <a:prstGeom prst="rect">
            <a:avLst/>
          </a:prstGeom>
          <a:noFill/>
        </p:spPr>
        <p:txBody>
          <a:bodyPr wrap="square" tIns="0" lIns="0">
            <a:spAutoFit/>
          </a:bodyPr>
          <a:lstStyle/>
          <a:p>
            <a:pPr>
              <a:defRPr sz="2200" b="1">
                <a:solidFill>
                  <a:srgbClr val="0F2043"/>
                </a:solidFill>
                <a:latin typeface="Arial"/>
              </a:defRPr>
            </a:pPr>
            <a:r>
              <a:t>DEMONSTRAȚIE PRACTICĂ (RULARE ÎN TIMP REAL)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1097280"/>
            <a:ext cx="10817352" cy="548640"/>
          </a:xfrm>
          <a:prstGeom prst="rect">
            <a:avLst/>
          </a:prstGeom>
          <a:noFill/>
        </p:spPr>
        <p:txBody>
          <a:bodyPr wrap="square" tIns="0" lIns="0">
            <a:spAutoFit/>
          </a:bodyPr>
          <a:lstStyle/>
          <a:p>
            <a:pPr>
              <a:defRPr sz="1400">
                <a:solidFill>
                  <a:srgbClr val="334155"/>
                </a:solidFill>
                <a:latin typeface="Calibri"/>
              </a:defRPr>
            </a:pPr>
            <a:r>
              <a:t>Prezentarea înregistrată a interfețelor active de text (sarcasm/carantină), expresii faciale (Face-API/Vision) și analiză vocală (DSP).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365760"/>
            <a:ext cx="10817352" cy="731520"/>
          </a:xfrm>
          <a:prstGeom prst="rect">
            <a:avLst/>
          </a:prstGeom>
          <a:noFill/>
        </p:spPr>
        <p:txBody>
          <a:bodyPr wrap="square" tIns="0" lIns="0">
            <a:spAutoFit/>
          </a:bodyPr>
          <a:lstStyle/>
          <a:p>
            <a:pPr>
              <a:defRPr sz="2200" b="1">
                <a:solidFill>
                  <a:srgbClr val="0F2043"/>
                </a:solidFill>
                <a:latin typeface="Arial"/>
              </a:defRPr>
            </a:pPr>
            <a:r>
              <a:t>Concluzii și Direcții de Dezvoltare Viitoare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1097280"/>
            <a:ext cx="10817352" cy="5303520"/>
          </a:xfrm>
          <a:prstGeom prst="rect">
            <a:avLst/>
          </a:prstGeom>
          <a:noFill/>
        </p:spPr>
        <p:txBody>
          <a:bodyPr wrap="square" tIns="0" lIns="0">
            <a:spAutoFit/>
          </a:bodyPr>
          <a:lstStyle/>
          <a:p>
            <a:pPr>
              <a:spcAft>
                <a:spcPts val="800"/>
              </a:spcAft>
            </a:pPr>
            <a:r>
              <a:rPr b="1" sz="1500">
                <a:solidFill>
                  <a:srgbClr val="1E293B"/>
                </a:solidFill>
                <a:latin typeface="Calibri"/>
              </a:rPr>
              <a:t>Concluzii Teoretice și Practice: </a:t>
            </a:r>
            <a:r>
              <a:rPr sz="1400">
                <a:solidFill>
                  <a:srgbClr val="1E293B"/>
                </a:solidFill>
                <a:latin typeface="Calibri"/>
              </a:rPr>
              <a:t>Platforma Anchor demonstrează că fuziunea multimodală acoperă deficiențele evaluărilor individuale, oferind o precizie ridicată în screening-ul preliminar.</a:t>
            </a:r>
          </a:p>
          <a:p>
            <a:pPr lvl="1">
              <a:spcAft>
                <a:spcPts val="400"/>
              </a:spcAft>
            </a:pPr>
            <a:r>
              <a:rPr b="1" sz="1300">
                <a:solidFill>
                  <a:srgbClr val="334155"/>
                </a:solidFill>
                <a:latin typeface="Calibri"/>
              </a:rPr>
              <a:t>Detecția incongruenței afective (Disimularea): </a:t>
            </a:r>
            <a:r>
              <a:rPr sz="1300">
                <a:solidFill>
                  <a:srgbClr val="334155"/>
                </a:solidFill>
                <a:latin typeface="Calibri"/>
              </a:rPr>
              <a:t>Divergența matematică dintre canale (ex: mimică senină vs. semantică critică) identifică automat măsura de disociere sau disimulare a pacientului.</a:t>
            </a:r>
          </a:p>
          <a:p>
            <a:pPr lvl="1">
              <a:spcAft>
                <a:spcPts val="400"/>
              </a:spcAft>
            </a:pPr>
            <a:r>
              <a:rPr b="1" sz="1300">
                <a:solidFill>
                  <a:srgbClr val="334155"/>
                </a:solidFill>
                <a:latin typeface="Calibri"/>
              </a:rPr>
              <a:t>Fuziunea la nivel de decizie (Late Fusion): </a:t>
            </a:r>
            <a:r>
              <a:rPr sz="1300">
                <a:solidFill>
                  <a:srgbClr val="334155"/>
                </a:solidFill>
                <a:latin typeface="Calibri"/>
              </a:rPr>
              <a:t>Agregarea asimetrică a scorurilor permite îmbinarea modelelor rulare local (Edge CNN) cu cele cloud (LLM), optimizând consumul de resurse.</a:t>
            </a:r>
          </a:p>
          <a:p>
            <a:pPr lvl="1">
              <a:spcAft>
                <a:spcPts val="400"/>
              </a:spcAft>
            </a:pPr>
            <a:r>
              <a:rPr b="1" sz="1300">
                <a:solidFill>
                  <a:srgbClr val="334155"/>
                </a:solidFill>
                <a:latin typeface="Calibri"/>
              </a:rPr>
              <a:t>Override semantic de siguranță: </a:t>
            </a:r>
            <a:r>
              <a:rPr sz="1300">
                <a:solidFill>
                  <a:srgbClr val="334155"/>
                </a:solidFill>
                <a:latin typeface="Calibri"/>
              </a:rPr>
              <a:t>Prioritizarea sensului clinic al cuvintelor în stări critice (risc &gt;= 80%) elimină riscul de fals-negative cauzate de o intonație vocală calmă sau simulată.</a:t>
            </a:r>
          </a:p>
          <a:p>
            <a:pPr lvl="1">
              <a:spcAft>
                <a:spcPts val="400"/>
              </a:spcAft>
            </a:pPr>
            <a:r>
              <a:rPr b="1" sz="1300">
                <a:solidFill>
                  <a:srgbClr val="334155"/>
                </a:solidFill>
                <a:latin typeface="Calibri"/>
              </a:rPr>
              <a:t>Conservarea memoriei clinice (Carantina): </a:t>
            </a:r>
            <a:r>
              <a:rPr sz="1300">
                <a:solidFill>
                  <a:srgbClr val="334155"/>
                </a:solidFill>
                <a:latin typeface="Calibri"/>
              </a:rPr>
              <a:t>Algoritmul de carantină matematică limitează scăderile abrupte de scor (max 15% pe mesaj) prevenind disimularea bruscă a crizelor de către pacienți.</a:t>
            </a:r>
          </a:p>
          <a:p>
            <a:pPr lvl="1">
              <a:spcAft>
                <a:spcPts val="400"/>
              </a:spcAft>
            </a:pPr>
            <a:r>
              <a:rPr b="1" sz="1300">
                <a:solidFill>
                  <a:srgbClr val="334155"/>
                </a:solidFill>
                <a:latin typeface="Calibri"/>
              </a:rPr>
              <a:t>Reziliență prin arhitectură hibridă: </a:t>
            </a:r>
            <a:r>
              <a:rPr sz="1300">
                <a:solidFill>
                  <a:srgbClr val="334155"/>
                </a:solidFill>
                <a:latin typeface="Calibri"/>
              </a:rPr>
              <a:t>Sistemele offline de tip NumPy/Wave fallback și corecția asincronă Groq Vision asigură un diagnostic stabil chiar și în medii hardware sau de conexiune limitate.</a:t>
            </a:r>
          </a:p>
          <a:p>
            <a:pPr>
              <a:spcAft>
                <a:spcPts val="800"/>
              </a:spcAft>
            </a:pPr>
            <a:r>
              <a:rPr b="1" sz="1500">
                <a:solidFill>
                  <a:srgbClr val="1E293B"/>
                </a:solidFill>
                <a:latin typeface="Calibri"/>
              </a:rPr>
              <a:t>Direcții de Dezvoltare Viitoare: </a:t>
            </a:r>
            <a:r>
              <a:rPr sz="1400">
                <a:solidFill>
                  <a:srgbClr val="1E293B"/>
                </a:solidFill>
                <a:latin typeface="Calibri"/>
              </a:rPr>
              <a:t>Extinderea capabilităților sistemului:</a:t>
            </a:r>
          </a:p>
          <a:p>
            <a:pPr lvl="1">
              <a:spcAft>
                <a:spcPts val="400"/>
              </a:spcAft>
            </a:pPr>
            <a:r>
              <a:rPr b="1" sz="1300">
                <a:solidFill>
                  <a:srgbClr val="334155"/>
                </a:solidFill>
                <a:latin typeface="Calibri"/>
              </a:rPr>
              <a:t>Modelare NLP locală: </a:t>
            </a:r>
            <a:r>
              <a:rPr sz="1300">
                <a:solidFill>
                  <a:srgbClr val="334155"/>
                </a:solidFill>
                <a:latin typeface="Calibri"/>
              </a:rPr>
              <a:t>Antrenarea și implementarea de modele lingvistice (Transformer, e.g. BERT românesc) care să ruleze local, fără a depinde de API-uri externe.</a:t>
            </a:r>
          </a:p>
          <a:p>
            <a:pPr lvl="1">
              <a:spcAft>
                <a:spcPts val="400"/>
              </a:spcAft>
            </a:pPr>
            <a:r>
              <a:rPr b="1" sz="1300">
                <a:solidFill>
                  <a:srgbClr val="334155"/>
                </a:solidFill>
                <a:latin typeface="Calibri"/>
              </a:rPr>
              <a:t>Senzori hardware (IoT): </a:t>
            </a:r>
            <a:r>
              <a:rPr sz="1300">
                <a:solidFill>
                  <a:srgbClr val="334155"/>
                </a:solidFill>
                <a:latin typeface="Calibri"/>
              </a:rPr>
              <a:t>Integrarea cu brățări inteligente sau senzori ECG/pulsoximetru pentru a adăuga parametri fiziologici (variabilitatea ritmului cardiac, conductanța pielii).</a:t>
            </a:r>
          </a:p>
          <a:p>
            <a:pPr lvl="1">
              <a:spcAft>
                <a:spcPts val="400"/>
              </a:spcAft>
            </a:pPr>
            <a:r>
              <a:rPr b="1" sz="1300">
                <a:solidFill>
                  <a:srgbClr val="334155"/>
                </a:solidFill>
                <a:latin typeface="Calibri"/>
              </a:rPr>
              <a:t>Validare clinică controlată: </a:t>
            </a:r>
            <a:r>
              <a:rPr sz="1300">
                <a:solidFill>
                  <a:srgbClr val="334155"/>
                </a:solidFill>
                <a:latin typeface="Calibri"/>
              </a:rPr>
              <a:t>Colaborarea cu medici specialiști pentru testarea pe loturi largi de pacienți diagnosticați pentru validarea coeficienților formulelor de calibrare.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